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notesMasterIdLst>
    <p:notesMasterId r:id="rId1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notesMaster" Target="notesMasters/notesMaster1.xml"/><Relationship Id="rId19" Type="http://schemas.openxmlformats.org/officeDocument/2006/relationships/presProps" Target="presProps.xml"/><Relationship Id="rId20" Type="http://schemas.openxmlformats.org/officeDocument/2006/relationships/viewProps" Target="viewProps.xml"/><Relationship Id="rId21" Type="http://schemas.openxmlformats.org/officeDocument/2006/relationships/theme" Target="theme/theme1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AUDIENCE : investisseur business angel / CEO pair francophone / Comex ETIC.
REDACTÉ DE CE DECK : équipe ADABU et détails opérationnels internes ETIC ; ventilation budget interne ETIC ; identités précises des CEO pilotes V2 ; conditions commerciales agence Twisty.
TONALITÉ : pair-à-pair, pas commercial. Le projet est honnête sur ce qui est construit (MVP v0.4) et ce qui ne l'est pas encore (cloud V1, multi-tenant V2, PWA mobile V3). Le modèle économique externe SaaS n'est pas encore validé — c'est explicité comme risque P0.
16 slides · 25 minutes en visio si déroulé linéaire.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Source du chiffre 47 % : agrégation interne d'études productivité (Microsoft Work Trend Index 2024, McKinsey 2023). À utiliser comme ordre de grandeur, pas comme stat de référence pour la séance.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 run de référence est documenté dans 03_mvp/README.md et 00_BOUSSOLE/CHANGELOG.md. Sur demande on peut faire la démo en visio en 5 minutes (npm run dev sur le poste de Feycoil + clic Préparer ma matinée).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Benchmark v2 livré 2026-04-25. Détail méthodologie + 19 produits + ADR S5-P0 dans 02-benchmark.md.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1554480"/>
            <a:ext cx="82296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0" i="1" spc="-200" kern="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aiCEO</a:t>
            </a:r>
            <a:endParaRPr lang="en-US" sz="11000" dirty="0"/>
          </a:p>
        </p:txBody>
      </p:sp>
      <p:sp>
        <p:nvSpPr>
          <p:cNvPr id="3" name="Shape 1"/>
          <p:cNvSpPr/>
          <p:nvPr/>
        </p:nvSpPr>
        <p:spPr>
          <a:xfrm>
            <a:off x="640080" y="3611880"/>
            <a:ext cx="1097280" cy="36576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3749040"/>
            <a:ext cx="10058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du CEO multi-sociétés.</a:t>
            </a:r>
            <a:endParaRPr lang="en-US" sz="2800" dirty="0"/>
          </a:p>
        </p:txBody>
      </p:sp>
      <p:sp>
        <p:nvSpPr>
          <p:cNvPr id="5" name="Text 3"/>
          <p:cNvSpPr/>
          <p:nvPr/>
        </p:nvSpPr>
        <p:spPr>
          <a:xfrm>
            <a:off x="640080" y="443484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v1.0 · 25 avril 2026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5120640"/>
            <a:ext cx="54864" cy="91440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68680" y="5074920"/>
            <a:ext cx="10515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Audience :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investisseur business angel · CEO pair · Comex ETIC. </a:t>
            </a:r>
            <a:pPr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Éléments redactés :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équipe ADABU, détails opérationnels internes ETIC, ventilation budget interne, identités CEO pilotes.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Toutes les hypothèses chiffrées sont des supports de modélisation à challenger, pas des engagements contractuels. Référentiel : </a:t>
            </a:r>
            <a:pPr indent="0" marL="0">
              <a:buNone/>
            </a:pPr>
            <a:r>
              <a:rPr lang="en-US" sz="10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BUSINESS-CASE.md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40080" y="626364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Feycoil Mouhoussoune · CEO ETIC Services · feycoil@etic-services.net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PROBLÈME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Triple déficit silencieux du CEO multi-sociétés.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que la productivité classique ne voit pas.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6636" y="23774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16636" y="2377440"/>
            <a:ext cx="3566160" cy="73152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0956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D96D3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6000" dirty="0"/>
          </a:p>
        </p:txBody>
      </p:sp>
      <p:sp>
        <p:nvSpPr>
          <p:cNvPr id="10" name="Text 8"/>
          <p:cNvSpPr/>
          <p:nvPr/>
        </p:nvSpPr>
        <p:spPr>
          <a:xfrm>
            <a:off x="790956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d'attention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790956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Mail, Teams, RDV, Slack, SharePoint. L'arbitrage quotidien coûte plus cher que la décision elle-même.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790956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~47 %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790956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temps perdu en triage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311396" y="23774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311396" y="2377440"/>
            <a:ext cx="3566160" cy="73152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85716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</a:t>
            </a:r>
            <a:endParaRPr lang="en-US" sz="6000" dirty="0"/>
          </a:p>
        </p:txBody>
      </p:sp>
      <p:sp>
        <p:nvSpPr>
          <p:cNvPr id="17" name="Text 15"/>
          <p:cNvSpPr/>
          <p:nvPr/>
        </p:nvSpPr>
        <p:spPr>
          <a:xfrm>
            <a:off x="4585716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délégation</a:t>
            </a:r>
            <a:endParaRPr lang="en-US" sz="1700" dirty="0"/>
          </a:p>
        </p:txBody>
      </p:sp>
      <p:sp>
        <p:nvSpPr>
          <p:cNvPr id="18" name="Text 16"/>
          <p:cNvSpPr/>
          <p:nvPr/>
        </p:nvSpPr>
        <p:spPr>
          <a:xfrm>
            <a:off x="4585716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Déléguer prend plus de temps que faire soi-même, le perfectionnisme verrouille, la confiance s'érode.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4585716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~3×</a:t>
            </a:r>
            <a:endParaRPr lang="en-US" sz="2800" dirty="0"/>
          </a:p>
        </p:txBody>
      </p:sp>
      <p:sp>
        <p:nvSpPr>
          <p:cNvPr id="20" name="Text 18"/>
          <p:cNvSpPr/>
          <p:nvPr/>
        </p:nvSpPr>
        <p:spPr>
          <a:xfrm>
            <a:off x="4585716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passé avant de lâcher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106156" y="2377440"/>
            <a:ext cx="3566160" cy="36576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106156" y="2377440"/>
            <a:ext cx="3566160" cy="73152"/>
          </a:xfrm>
          <a:prstGeom prst="rect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8380476" y="260604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i="1" dirty="0">
                <a:solidFill>
                  <a:srgbClr val="7A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</a:t>
            </a:r>
            <a:endParaRPr lang="en-US" sz="6000" dirty="0"/>
          </a:p>
        </p:txBody>
      </p:sp>
      <p:sp>
        <p:nvSpPr>
          <p:cNvPr id="24" name="Text 22"/>
          <p:cNvSpPr/>
          <p:nvPr/>
        </p:nvSpPr>
        <p:spPr>
          <a:xfrm>
            <a:off x="8380476" y="3520440"/>
            <a:ext cx="30175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Déficit de respiration</a:t>
            </a:r>
            <a:endParaRPr lang="en-US" sz="1700" dirty="0"/>
          </a:p>
        </p:txBody>
      </p:sp>
      <p:sp>
        <p:nvSpPr>
          <p:cNvPr id="25" name="Text 23"/>
          <p:cNvSpPr/>
          <p:nvPr/>
        </p:nvSpPr>
        <p:spPr>
          <a:xfrm>
            <a:off x="8380476" y="3977640"/>
            <a:ext cx="30175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revue hebdo, pas de cap stable. Le dirigeant court — sans rituel d'intention.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8380476" y="5074920"/>
            <a:ext cx="3017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15 min</a:t>
            </a:r>
            <a:endParaRPr lang="en-US" sz="2800" dirty="0"/>
          </a:p>
        </p:txBody>
      </p:sp>
      <p:sp>
        <p:nvSpPr>
          <p:cNvPr id="27" name="Text 25"/>
          <p:cNvSpPr/>
          <p:nvPr/>
        </p:nvSpPr>
        <p:spPr>
          <a:xfrm>
            <a:off x="8380476" y="5577840"/>
            <a:ext cx="3017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consacrées par sem. à la revue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L'outil productivité classique résout le « quoi ». Le CEO a besoin d'aide sur le « quand, pourquoi, et avec qui ».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2 / 16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SOLUTION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copilote desktop. Pas un SaaS de plus.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matinal 3 / 2 / N. Délégation un-clic. Boucle du soir. Tout reste sur le poste du CEO.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5577840" cy="4023360"/>
          </a:xfrm>
          <a:prstGeom prst="rect">
            <a:avLst/>
          </a:prstGeom>
          <a:solidFill>
            <a:srgbClr val="FFFFFF"/>
          </a:solidFill>
          <a:ln w="19050">
            <a:solidFill>
              <a:srgbClr val="3D73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242316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qu'aiCEO est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990088"/>
            <a:ext cx="118872" cy="118872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68680" y="28803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copilote stratégique, pas un assistant exécutif. Il pense avec vous, en arrière-plan.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40080" y="3493008"/>
            <a:ext cx="118872" cy="118872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68680" y="338328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observe vos mails, vos RDV, vos projets, vos décisions multi-sociétés.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40080" y="3995928"/>
            <a:ext cx="118872" cy="118872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68680" y="388620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diagnostique tensions — charge, retard, engagement flottant, conflit de priorité.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4498848"/>
            <a:ext cx="118872" cy="118872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438912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propose 3 priorités du jour, 2 délégations avec brouillon de mail prêt, N à différer.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40080" y="5001768"/>
            <a:ext cx="118872" cy="118872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68680" y="489204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apprend de chaque OUI / NON / PLUS TARD et s'aligne à votre style.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" y="5504688"/>
            <a:ext cx="118872" cy="118872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68680" y="5394960"/>
            <a:ext cx="5029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tourne sur le poste du CEO. Vos mails ne quittent pas Outlook.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263640" y="2286000"/>
            <a:ext cx="5486400" cy="4023360"/>
          </a:xfrm>
          <a:prstGeom prst="rect">
            <a:avLst/>
          </a:prstGeom>
          <a:solidFill>
            <a:srgbClr val="ECE7DD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46520" y="2423160"/>
            <a:ext cx="5212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qu'aiCEO n'est pas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446520" y="2880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ChatGPT enveloppé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6446520" y="313639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cherche à supprimer le chat du parcours quotidien.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6446520" y="352044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Notion + IA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377647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base est un graphe vivant d'objets métiers, pas un CMS.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6446520" y="416052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assistant de prise de note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6446520" y="441655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comprend le contexte de la décision, pas le verbatim.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6446520" y="480060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une autre inbox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6446520" y="505663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lit les mails pour vous — pas de notif supplémentaire.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6446520" y="54406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chatbot qui attend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5696712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 vous parle uniquement quand il apporte une décision nette.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3 / 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TRACTION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MVP v0.4 tourne sur des vrais mails. Aujourd'hui.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Livré le 24 avril 2026. Testé sur 30 jours d'Outlook réel. Coût d'usage observé ≈ 5 € / mois.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516636" y="233172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5236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28/28</a:t>
            </a:r>
            <a:endParaRPr lang="en-US" sz="4000" dirty="0"/>
          </a:p>
        </p:txBody>
      </p:sp>
      <p:sp>
        <p:nvSpPr>
          <p:cNvPr id="9" name="Shape 7"/>
          <p:cNvSpPr/>
          <p:nvPr/>
        </p:nvSpPr>
        <p:spPr>
          <a:xfrm>
            <a:off x="745236" y="3520440"/>
            <a:ext cx="548640" cy="36576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5236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Tâches arbitrées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45236" y="4023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réel en 41 secondes sur les vrais mails du CEO pilote (Claude Sonnet 4.5).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351276" y="233172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579876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926</a:t>
            </a:r>
            <a:endParaRPr lang="en-US" sz="4000" dirty="0"/>
          </a:p>
        </p:txBody>
      </p:sp>
      <p:sp>
        <p:nvSpPr>
          <p:cNvPr id="14" name="Shape 12"/>
          <p:cNvSpPr/>
          <p:nvPr/>
        </p:nvSpPr>
        <p:spPr>
          <a:xfrm>
            <a:off x="3579876" y="3520440"/>
            <a:ext cx="548640" cy="36576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79876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Mails Outlook ingérés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579876" y="4023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boîtes (principale + 2 déléguées), 30 jours, normalisés et reproductibles.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185916" y="233172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14516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 1 ct</a:t>
            </a:r>
            <a:endParaRPr lang="en-US" sz="4000" dirty="0"/>
          </a:p>
        </p:txBody>
      </p:sp>
      <p:sp>
        <p:nvSpPr>
          <p:cNvPr id="19" name="Shape 17"/>
          <p:cNvSpPr/>
          <p:nvPr/>
        </p:nvSpPr>
        <p:spPr>
          <a:xfrm>
            <a:off x="6414516" y="3520440"/>
            <a:ext cx="548640" cy="36576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414516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par arbitrage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6414516" y="4023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5,2 k tokens in / 2,5 k out. Budget quotidien observé ≈ 1,5 ct, soit ≈ 5 € / mois.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9020556" y="2331720"/>
            <a:ext cx="2651760" cy="274320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9249156" y="246888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v0.4</a:t>
            </a:r>
            <a:endParaRPr lang="en-US" sz="4000" dirty="0"/>
          </a:p>
        </p:txBody>
      </p:sp>
      <p:sp>
        <p:nvSpPr>
          <p:cNvPr id="24" name="Shape 22"/>
          <p:cNvSpPr/>
          <p:nvPr/>
        </p:nvSpPr>
        <p:spPr>
          <a:xfrm>
            <a:off x="9249156" y="3520440"/>
            <a:ext cx="548640" cy="36576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9249156" y="3657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 publié sur GitHub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9249156" y="402336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Délégation un-clic, boucle du soir, contexte mail injecté, support proxy corp, chip alerte.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457200" y="5440680"/>
            <a:ext cx="11274552" cy="9144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57200" y="5440680"/>
            <a:ext cx="54864" cy="914400"/>
          </a:xfrm>
          <a:prstGeom prst="rect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40080" y="5486400"/>
            <a:ext cx="1090879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 permanent. </a:t>
            </a:r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CEO pilote (Feycoil Mouhoussoune, ETIC Services) utilise aiCEO chaque jour ouvré depuis le 24 avril 2026. Les chiffres ci-dessus sont mesurés, pas projetés. </a:t>
            </a:r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seul gain Feycoil rembourse à terme ~13-18 % des coûts V1 annualisés </a:t>
            </a:r>
            <a:pPr indent="0" marL="0">
              <a:buNone/>
            </a:pPr>
            <a:r>
              <a:rPr lang="en-US" sz="11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(cf. BUSINESS-CASE.md §4).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4 / 16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HONNÊTETÉ PRODUIT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qui n'est pas encore construit — et où on va.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livré ne veut pas dire produit fini. Voici la dette explicite.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02336" y="2286000"/>
            <a:ext cx="5577840" cy="42062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02336" y="2286000"/>
            <a:ext cx="73152" cy="4206240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76656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encore livré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76656" y="2834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Service Windows démarrage auto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676656" y="3072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 demande encore un lancement manuel PowerShell. v0.5 cible.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676656" y="3429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Auto-sync Outlook 2 h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676656" y="36667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import sur déclenchement. v0.5 cible.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676656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multi-utilisateur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76656" y="4261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v0.4-v0.5 = SQLite local mono-poste. V1 cloud (T4 2026).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676656" y="4617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 API OAuth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676656" y="48554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Aujourd'hui PowerShell COM = session ouverte requise. V1 cible.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676656" y="5212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équipe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676656" y="5449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DG / AE / manager ne voient pas l'agent. V2 (T1-T2 2027) cible.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676656" y="5806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mobile + offline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76656" y="60441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de mobile. V3 (T3-T4 2027) cible.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208776" y="2286000"/>
            <a:ext cx="5577840" cy="4206240"/>
          </a:xfrm>
          <a:prstGeom prst="rect">
            <a:avLst/>
          </a:prstGeom>
          <a:solidFill>
            <a:srgbClr val="ECE7DD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08776" y="2286000"/>
            <a:ext cx="73152" cy="420624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483096" y="23774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Pourquoi ça tient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483096" y="28346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SQLite migrable 1:1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6483096" y="30723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tables conçues pour basculer vers Postgres sans réécriture data layer.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6483096" y="342900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services/outlook.js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6483096" y="366674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Encapsule COM en v0.5, remplaçable par msal-node Graph V1 sans toucher l'agent.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6483096" y="402336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Prompts versionnés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6483096" y="426110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02_design-system/prompts/ — re-tuning rapide si modèle change.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6483096" y="461772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jetable assumé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6483096" y="485546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local-first est un pont jetable documenté (ADR 24/04, SPEC-TECHNIQUE §13).</a:t>
            </a:r>
            <a:endParaRPr lang="en-US" sz="950" dirty="0"/>
          </a:p>
        </p:txBody>
      </p:sp>
      <p:sp>
        <p:nvSpPr>
          <p:cNvPr id="33" name="Text 31"/>
          <p:cNvSpPr/>
          <p:nvPr/>
        </p:nvSpPr>
        <p:spPr>
          <a:xfrm>
            <a:off x="6483096" y="521208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Mirroring AWS Bedrock EU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6483096" y="544982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V1 : Bedrock Frankfurt en parallèle Anthropic direct.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6483096" y="5806440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LiteLLM en V2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6483096" y="6044184"/>
            <a:ext cx="51206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Couche multi-vendeur (Anthropic + Bedrock + Mistral + GPT fallback).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5 / 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7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POSITIONNEMENT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desktop-first, 5 critères. Personne ne coche plus de 1.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v2 (avril 2026) : 19 produits étudiés, 5 desktop-first prioritaires. Détail dans 02-benchmark.md §0 + Axe 5.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286000"/>
            <a:ext cx="2468880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926080" y="2286000"/>
            <a:ext cx="1463040" cy="640080"/>
          </a:xfrm>
          <a:prstGeom prst="rect">
            <a:avLst/>
          </a:prstGeom>
          <a:solidFill>
            <a:srgbClr val="3D7363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92608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389120" y="2286000"/>
            <a:ext cx="1463040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8912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 Copilot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2286000"/>
            <a:ext cx="1463040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Rewind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7315200" y="2286000"/>
            <a:ext cx="1463040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31520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Motion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8778240" y="2286000"/>
            <a:ext cx="1463040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77824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10241280" y="2286000"/>
            <a:ext cx="1463040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0" y="22860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Superhuman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57200" y="292608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94360" y="292608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multi-sociétés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2926080" y="2926080"/>
            <a:ext cx="1463040" cy="640080"/>
          </a:xfrm>
          <a:prstGeom prst="rect">
            <a:avLst/>
          </a:prstGeom>
          <a:solidFill>
            <a:srgbClr val="EAF1EE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92608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4389120" y="292608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38912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5852160" y="292608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85216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28" name="Shape 26"/>
          <p:cNvSpPr/>
          <p:nvPr/>
        </p:nvSpPr>
        <p:spPr>
          <a:xfrm>
            <a:off x="7315200" y="292608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31520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30" name="Shape 28"/>
          <p:cNvSpPr/>
          <p:nvPr/>
        </p:nvSpPr>
        <p:spPr>
          <a:xfrm>
            <a:off x="8778240" y="292608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877824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10241280" y="292608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10241280" y="292608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34" name="Shape 32"/>
          <p:cNvSpPr/>
          <p:nvPr/>
        </p:nvSpPr>
        <p:spPr>
          <a:xfrm>
            <a:off x="457200" y="356616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94360" y="356616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locale (proxy/desktop)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926080" y="3566160"/>
            <a:ext cx="1463040" cy="640080"/>
          </a:xfrm>
          <a:prstGeom prst="rect">
            <a:avLst/>
          </a:prstGeom>
          <a:solidFill>
            <a:srgbClr val="EAF1EE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292608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38" name="Shape 36"/>
          <p:cNvSpPr/>
          <p:nvPr/>
        </p:nvSpPr>
        <p:spPr>
          <a:xfrm>
            <a:off x="4389120" y="356616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38912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40" name="Shape 38"/>
          <p:cNvSpPr/>
          <p:nvPr/>
        </p:nvSpPr>
        <p:spPr>
          <a:xfrm>
            <a:off x="5852160" y="356616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585216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42" name="Shape 40"/>
          <p:cNvSpPr/>
          <p:nvPr/>
        </p:nvSpPr>
        <p:spPr>
          <a:xfrm>
            <a:off x="7315200" y="356616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731520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44" name="Shape 42"/>
          <p:cNvSpPr/>
          <p:nvPr/>
        </p:nvSpPr>
        <p:spPr>
          <a:xfrm>
            <a:off x="8778240" y="356616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877824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10241280" y="356616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10241280" y="356616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48" name="Shape 46"/>
          <p:cNvSpPr/>
          <p:nvPr/>
        </p:nvSpPr>
        <p:spPr>
          <a:xfrm>
            <a:off x="457200" y="420624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94360" y="420624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desktop natif</a:t>
            </a:r>
            <a:endParaRPr lang="en-US" sz="1050" dirty="0"/>
          </a:p>
        </p:txBody>
      </p:sp>
      <p:sp>
        <p:nvSpPr>
          <p:cNvPr id="50" name="Shape 48"/>
          <p:cNvSpPr/>
          <p:nvPr/>
        </p:nvSpPr>
        <p:spPr>
          <a:xfrm>
            <a:off x="2926080" y="4206240"/>
            <a:ext cx="1463040" cy="640080"/>
          </a:xfrm>
          <a:prstGeom prst="rect">
            <a:avLst/>
          </a:prstGeom>
          <a:solidFill>
            <a:srgbClr val="EAF1EE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292608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52" name="Shape 50"/>
          <p:cNvSpPr/>
          <p:nvPr/>
        </p:nvSpPr>
        <p:spPr>
          <a:xfrm>
            <a:off x="4389120" y="42062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8912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54" name="Shape 52"/>
          <p:cNvSpPr/>
          <p:nvPr/>
        </p:nvSpPr>
        <p:spPr>
          <a:xfrm>
            <a:off x="5852160" y="42062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585216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56" name="Shape 54"/>
          <p:cNvSpPr/>
          <p:nvPr/>
        </p:nvSpPr>
        <p:spPr>
          <a:xfrm>
            <a:off x="7315200" y="42062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731520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58" name="Shape 56"/>
          <p:cNvSpPr/>
          <p:nvPr/>
        </p:nvSpPr>
        <p:spPr>
          <a:xfrm>
            <a:off x="8778240" y="42062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877824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60" name="Shape 58"/>
          <p:cNvSpPr/>
          <p:nvPr/>
        </p:nvSpPr>
        <p:spPr>
          <a:xfrm>
            <a:off x="10241280" y="420624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10241280" y="420624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62" name="Shape 60"/>
          <p:cNvSpPr/>
          <p:nvPr/>
        </p:nvSpPr>
        <p:spPr>
          <a:xfrm>
            <a:off x="457200" y="484632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594360" y="4846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Brouillon mail délégation prêt</a:t>
            </a:r>
            <a:endParaRPr lang="en-US" sz="1050" dirty="0"/>
          </a:p>
        </p:txBody>
      </p:sp>
      <p:sp>
        <p:nvSpPr>
          <p:cNvPr id="64" name="Shape 62"/>
          <p:cNvSpPr/>
          <p:nvPr/>
        </p:nvSpPr>
        <p:spPr>
          <a:xfrm>
            <a:off x="2926080" y="4846320"/>
            <a:ext cx="1463040" cy="640080"/>
          </a:xfrm>
          <a:prstGeom prst="rect">
            <a:avLst/>
          </a:prstGeom>
          <a:solidFill>
            <a:srgbClr val="EAF1EE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292608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66" name="Shape 64"/>
          <p:cNvSpPr/>
          <p:nvPr/>
        </p:nvSpPr>
        <p:spPr>
          <a:xfrm>
            <a:off x="4389120" y="484632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438912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68" name="Shape 66"/>
          <p:cNvSpPr/>
          <p:nvPr/>
        </p:nvSpPr>
        <p:spPr>
          <a:xfrm>
            <a:off x="5852160" y="484632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585216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70" name="Shape 68"/>
          <p:cNvSpPr/>
          <p:nvPr/>
        </p:nvSpPr>
        <p:spPr>
          <a:xfrm>
            <a:off x="7315200" y="484632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731520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72" name="Shape 70"/>
          <p:cNvSpPr/>
          <p:nvPr/>
        </p:nvSpPr>
        <p:spPr>
          <a:xfrm>
            <a:off x="8778240" y="484632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77824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74" name="Shape 72"/>
          <p:cNvSpPr/>
          <p:nvPr/>
        </p:nvSpPr>
        <p:spPr>
          <a:xfrm>
            <a:off x="10241280" y="484632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10241280" y="484632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</a:t>
            </a:r>
            <a:endParaRPr lang="en-US" sz="1800" dirty="0"/>
          </a:p>
        </p:txBody>
      </p:sp>
      <p:sp>
        <p:nvSpPr>
          <p:cNvPr id="76" name="Shape 74"/>
          <p:cNvSpPr/>
          <p:nvPr/>
        </p:nvSpPr>
        <p:spPr>
          <a:xfrm>
            <a:off x="457200" y="5486400"/>
            <a:ext cx="246888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594360" y="5486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Boucle matin / soir / hebdo</a:t>
            </a:r>
            <a:endParaRPr lang="en-US" sz="1050" dirty="0"/>
          </a:p>
        </p:txBody>
      </p:sp>
      <p:sp>
        <p:nvSpPr>
          <p:cNvPr id="78" name="Shape 76"/>
          <p:cNvSpPr/>
          <p:nvPr/>
        </p:nvSpPr>
        <p:spPr>
          <a:xfrm>
            <a:off x="2926080" y="5486400"/>
            <a:ext cx="1463040" cy="640080"/>
          </a:xfrm>
          <a:prstGeom prst="rect">
            <a:avLst/>
          </a:prstGeom>
          <a:solidFill>
            <a:srgbClr val="EAF1EE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2926080" y="5486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</a:t>
            </a:r>
            <a:endParaRPr lang="en-US" sz="1800" dirty="0"/>
          </a:p>
        </p:txBody>
      </p:sp>
      <p:sp>
        <p:nvSpPr>
          <p:cNvPr id="80" name="Shape 78"/>
          <p:cNvSpPr/>
          <p:nvPr/>
        </p:nvSpPr>
        <p:spPr>
          <a:xfrm>
            <a:off x="4389120" y="548640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4389120" y="5486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82" name="Shape 80"/>
          <p:cNvSpPr/>
          <p:nvPr/>
        </p:nvSpPr>
        <p:spPr>
          <a:xfrm>
            <a:off x="5852160" y="548640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5852160" y="5486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84" name="Shape 82"/>
          <p:cNvSpPr/>
          <p:nvPr/>
        </p:nvSpPr>
        <p:spPr>
          <a:xfrm>
            <a:off x="7315200" y="548640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7315200" y="5486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86" name="Shape 84"/>
          <p:cNvSpPr/>
          <p:nvPr/>
        </p:nvSpPr>
        <p:spPr>
          <a:xfrm>
            <a:off x="8778240" y="548640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8778240" y="5486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</a:t>
            </a:r>
            <a:endParaRPr lang="en-US" sz="1800" dirty="0"/>
          </a:p>
        </p:txBody>
      </p:sp>
      <p:sp>
        <p:nvSpPr>
          <p:cNvPr id="88" name="Shape 86"/>
          <p:cNvSpPr/>
          <p:nvPr/>
        </p:nvSpPr>
        <p:spPr>
          <a:xfrm>
            <a:off x="10241280" y="5486400"/>
            <a:ext cx="146304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10241280" y="5486400"/>
            <a:ext cx="14630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</a:t>
            </a:r>
            <a:endParaRPr lang="en-US" sz="1800" dirty="0"/>
          </a:p>
        </p:txBody>
      </p:sp>
      <p:sp>
        <p:nvSpPr>
          <p:cNvPr id="90" name="Text 88"/>
          <p:cNvSpPr/>
          <p:nvPr/>
        </p:nvSpPr>
        <p:spPr>
          <a:xfrm>
            <a:off x="457200" y="59436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●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 · </a:t>
            </a:r>
            <a:pPr indent="0" marL="0">
              <a:buNone/>
            </a:pPr>
            <a:r>
              <a:rPr lang="en-US" sz="1000" b="1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◐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partiel · </a:t>
            </a:r>
            <a:pPr indent="0" marL="0">
              <a:buNone/>
            </a:pPr>
            <a:r>
              <a:rPr lang="en-US" sz="1000" b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◔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marginal · </a:t>
            </a:r>
            <a:pPr indent="0" marL="0">
              <a:buNone/>
            </a:pPr>
            <a:r>
              <a:rPr lang="en-US" sz="10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○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absent.</a:t>
            </a:r>
            <a:endParaRPr lang="en-US" sz="1000" dirty="0"/>
          </a:p>
        </p:txBody>
      </p:sp>
      <p:sp>
        <p:nvSpPr>
          <p:cNvPr id="91" name="Text 89"/>
          <p:cNvSpPr/>
          <p:nvPr/>
        </p:nvSpPr>
        <p:spPr>
          <a:xfrm>
            <a:off x="6035040" y="5943600"/>
            <a:ext cx="5943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L'angle « arbitrage multi-sociétés × Outlook desktop natif × souveraineté locale » est ouvert.</a:t>
            </a:r>
            <a:endParaRPr lang="en-US" sz="1000" dirty="0"/>
          </a:p>
        </p:txBody>
      </p:sp>
      <p:sp>
        <p:nvSpPr>
          <p:cNvPr id="92" name="Text 9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6 / 16</a:t>
            </a:r>
            <a:endParaRPr lang="en-US" sz="900" dirty="0"/>
          </a:p>
        </p:txBody>
      </p:sp>
      <p:sp>
        <p:nvSpPr>
          <p:cNvPr id="93" name="Text 91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DIFFÉRENCIATION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piliers difficiles à copier en moins d'un an.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 un seul mais trois choix architecturaux qui s'auto-renforcent.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" y="237744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" y="2377440"/>
            <a:ext cx="73152" cy="329184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653796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Arbitrage multi-sociétés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653796" y="36118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moteur d'arbitrage 3/2/N corrèle simultanément mails, agenda et tâches sur N entités juridiques. Aucun concurrent n'agrège plusieurs sociétés dans le même prompt — Microsoft Copilot reste tenant unique.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65676" y="237744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265676" y="2377440"/>
            <a:ext cx="73152" cy="329184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39996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4539996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Souveraineté locale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4539996" y="36118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Node mono-poste, base SQLite, support proxy corp natif, mode démo offline. La data reste sur le poste du CEO — argument décisif pour les CEO sensibles RGPD / ANSSI / souveraineté FR.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8151876" y="237744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151876" y="2377440"/>
            <a:ext cx="73152" cy="3291840"/>
          </a:xfrm>
          <a:prstGeom prst="rect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426196" y="251460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7A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3200" dirty="0"/>
          </a:p>
        </p:txBody>
      </p:sp>
      <p:sp>
        <p:nvSpPr>
          <p:cNvPr id="20" name="Text 18"/>
          <p:cNvSpPr/>
          <p:nvPr/>
        </p:nvSpPr>
        <p:spPr>
          <a:xfrm>
            <a:off x="8426196" y="310896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desktop natif</a:t>
            </a:r>
            <a:endParaRPr lang="en-US" sz="1700" dirty="0"/>
          </a:p>
        </p:txBody>
      </p:sp>
      <p:sp>
        <p:nvSpPr>
          <p:cNvPr id="21" name="Text 19"/>
          <p:cNvSpPr/>
          <p:nvPr/>
        </p:nvSpPr>
        <p:spPr>
          <a:xfrm>
            <a:off x="8426196" y="3611880"/>
            <a:ext cx="32004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Lecture COM PowerShell (en v0.5) puis Graph API OAuth (en V1) — couvre les CEO ETI 50-500 salariés qui restent sur Outlook desktop, marché sous-investi par les concurrents US.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0350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Effet réseau interne : chaque pilier renforce les deux autres. Un concurrent qui ne couvre qu'un pilier ne ferme pas la triple jonction.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7 / 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7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ARCHITECTURE CONCEPTUELLE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couches, un seul cerveau.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copilote lit le monde (contexte), le décrypte (intelligence), et se montre juste assez (interface).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7455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91440" cy="1234440"/>
          </a:xfrm>
          <a:prstGeom prst="rect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40080" y="2468880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INTERFACE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2697480" y="246888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Cockpit · Vues · Rituels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2834640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pages (Cockpit, Tâches, Décisions, Agenda, Contacts, Revues, Copilote, Projets, Groupes…). Vues multiples sur un même nœud (liste · grille · arbre · timeline). 3 rituels : matin (5 min), soir (3 min), dimanche (15 min).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3730752"/>
            <a:ext cx="1127455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57200" y="3730752"/>
            <a:ext cx="91440" cy="123444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40080" y="3867912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2697480" y="386791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 · Mémoire · Apprentissage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" y="4233672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Sonnet 4.5 (raisonnement). LangGraph + Inngest (V1). Mémoire hiérarchique 3 strates — identity / preference / episode — avec pgvector + Voyage-3 (V1). 15 propositions/jour max, NON bienveillant inclus.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5129784"/>
            <a:ext cx="11274552" cy="12344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5129784"/>
            <a:ext cx="91440" cy="123444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" y="5266944"/>
            <a:ext cx="20116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2697480" y="526694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desktop · Graph API · ETIC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640080" y="5632704"/>
            <a:ext cx="10908792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: PowerShell COM Outlook desktop, mono-poste. V1 : Microsoft Graph API (mail, calendar, Teams, SharePoint) en delta queries + webhooks. Postgres Supabase EU. RLS par société + chiffrement.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626364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seul graphe. Plusieurs vues. Un agent qui relie tout.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8 / 16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ROADMAP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jalons, 18 mois, ≈ 1,69 M€.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livré → V0.5 fusion → V1 cloud → V2 équipe → V3 coach. Chaque palier porte un go/no-go mesuré.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278892" y="2468880"/>
            <a:ext cx="2194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3D7363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7492" y="2697480"/>
            <a:ext cx="201168" cy="201168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07492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v0.4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507492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 avr. 2026 ✓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07492" y="3840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Windows mono-poste, Node + JSON. L'arbitrage marche sur les vrais mails.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638044" y="2468880"/>
            <a:ext cx="2194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D96D3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866644" y="2697480"/>
            <a:ext cx="201168" cy="201168"/>
          </a:xfrm>
          <a:prstGeom prst="ellipse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866644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fusion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866644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T2 2026 · en cours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866644" y="3840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Service Windows + 13 pages unifiées. ≈ 110 k€ · 10 sem · 2,6 ETP.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4997196" y="2468880"/>
            <a:ext cx="21945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5225796" y="2697480"/>
            <a:ext cx="201168" cy="201168"/>
          </a:xfrm>
          <a:prstGeom prst="ellipse">
            <a:avLst/>
          </a:prstGeom>
          <a:solidFill>
            <a:srgbClr val="6B6F78"/>
          </a:solidFill>
          <a:ln w="12700">
            <a:solidFill>
              <a:srgbClr val="6B6F7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225796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cloud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225796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T3-T4 2026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5225796" y="3840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Graph OAuth + Inngest. Premier CEO pair ETIC. ≈ 290 k€ · 16 sem · 4,3 ETP.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356348" y="2468880"/>
            <a:ext cx="21945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84948" y="2697480"/>
            <a:ext cx="201168" cy="201168"/>
          </a:xfrm>
          <a:prstGeom prst="ellipse">
            <a:avLst/>
          </a:prstGeom>
          <a:solidFill>
            <a:srgbClr val="6B6F78"/>
          </a:solidFill>
          <a:ln w="12700">
            <a:solidFill>
              <a:srgbClr val="6B6F7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584948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équipe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584948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T1-T2 2027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7584948" y="3840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+ RLS + Teams + délégation E2E + SOC 2. ≈ 693 k€ · 20 sem · 8 ETP.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9715500" y="2468880"/>
            <a:ext cx="2194560" cy="320040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944100" y="2697480"/>
            <a:ext cx="201168" cy="201168"/>
          </a:xfrm>
          <a:prstGeom prst="ellipse">
            <a:avLst/>
          </a:prstGeom>
          <a:solidFill>
            <a:srgbClr val="6B6F78"/>
          </a:solidFill>
          <a:ln w="12700">
            <a:solidFill>
              <a:srgbClr val="6B6F78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944100" y="3017520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 coach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9944100" y="3474720"/>
            <a:ext cx="1737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2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T3-T4 2027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9944100" y="384048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PWA mobile + offline + Claude Opus coach + 2-3 CEO pairs. ≈ 598 k€ · 16 sem · 9 ETP.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457200" y="598932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trajectoire : ≈ 1 691 k€ · équipe 3 → 9 ETP · 1er go/no-go fin T2 2026 (v0.5 → V1).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9 / 16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7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 · STACK TECHNIQUE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EU-only, multi-provider, auditabilité bout-en-bout.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= local mono-poste. V1+ = cloud EU avec mirroring multi-vendeur LLM.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0896" y="233172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10896" y="2331720"/>
            <a:ext cx="2788920" cy="411480"/>
          </a:xfrm>
          <a:prstGeom prst="rect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10896" y="2331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93776" y="2926080"/>
            <a:ext cx="109728" cy="109728"/>
          </a:xfrm>
          <a:prstGeom prst="ellipse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76656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: HTML/CSS/JS vanilla + DS Twisty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493776" y="3794760"/>
            <a:ext cx="109728" cy="109728"/>
          </a:xfrm>
          <a:prstGeom prst="ellipse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76656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V1+ : SolidJS + Tailwind v4 + shadcn-solid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93776" y="4663440"/>
            <a:ext cx="109728" cy="109728"/>
          </a:xfrm>
          <a:prstGeom prst="ellipse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6656" y="4617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: Cytoscape.js + tldraw SDK + ElectricSQL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236976" y="233172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236976" y="2331720"/>
            <a:ext cx="2788920" cy="41148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36976" y="2331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419856" y="2926080"/>
            <a:ext cx="109728" cy="109728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602736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: Claude Sonnet 4.5 (Anthropic API directe)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3419856" y="3794760"/>
            <a:ext cx="109728" cy="109728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602736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: + Bedrock EU Frankfurt + Inngest jobs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419856" y="4663440"/>
            <a:ext cx="109728" cy="109728"/>
          </a:xfrm>
          <a:prstGeom prst="ellipse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602736" y="4617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: LiteLLM (Anthropic/Bedrock/Mistral/GPT)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163056" y="233172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163056" y="2331720"/>
            <a:ext cx="2788920" cy="41148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163056" y="2331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345936" y="2926080"/>
            <a:ext cx="109728" cy="109728"/>
          </a:xfrm>
          <a:prstGeom prst="ellipse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528816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: SQLite local (13 tables, schéma migrable)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6345936" y="3794760"/>
            <a:ext cx="109728" cy="109728"/>
          </a:xfrm>
          <a:prstGeom prst="ellipse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28816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: Postgres Supabase EU + pgvector + Voyage-3</a:t>
            </a:r>
            <a:endParaRPr lang="en-US" sz="1000" dirty="0"/>
          </a:p>
        </p:txBody>
      </p:sp>
      <p:sp>
        <p:nvSpPr>
          <p:cNvPr id="32" name="Shape 30"/>
          <p:cNvSpPr/>
          <p:nvPr/>
        </p:nvSpPr>
        <p:spPr>
          <a:xfrm>
            <a:off x="6345936" y="4663440"/>
            <a:ext cx="109728" cy="109728"/>
          </a:xfrm>
          <a:prstGeom prst="ellipse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528816" y="4617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: Langfuse traces + RLS + SOC 2 Type II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9089136" y="2331720"/>
            <a:ext cx="278892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089136" y="2331720"/>
            <a:ext cx="2788920" cy="411480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9089136" y="2331720"/>
            <a:ext cx="2788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9272016" y="2926080"/>
            <a:ext cx="109728" cy="109728"/>
          </a:xfrm>
          <a:prstGeom prst="ellipse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454896" y="288036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 : Outlook desktop COM (PowerShell)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9272016" y="3794760"/>
            <a:ext cx="109728" cy="109728"/>
          </a:xfrm>
          <a:prstGeom prst="ellipse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9454896" y="374904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: Microsoft Graph API (msal-node OAuth)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9272016" y="4663440"/>
            <a:ext cx="109728" cy="109728"/>
          </a:xfrm>
          <a:prstGeom prst="ellipse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54896" y="46177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 : SharePoint RAG + Teams + perm-trim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d'usage observé v0.4 : </a:t>
            </a:r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5 €/mois d'API par CEO (1 arbitrage/jour). </a:t>
            </a:r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Latence cible V1 : </a:t>
            </a:r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 1,5 s (streaming). </a:t>
            </a:r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ZDR : </a:t>
            </a:r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providers EU exclusivement à partir de V1.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10 / 16</a:t>
            </a:r>
            <a:endParaRPr lang="en-US" sz="900" dirty="0"/>
          </a:p>
        </p:txBody>
      </p:sp>
      <p:sp>
        <p:nvSpPr>
          <p:cNvPr id="46" name="Text 44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· ÉQUIPE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ETP à maturité V3 · ramping 3 → 9 sur 18 mois.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Organisation légère, responsabilités nettes, ramping aligné sur les paliers de risque.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10896" y="2377440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9377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Lead / CEO pilote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2276856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93776" y="2834640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93776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493776" y="3108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Vision, RICE, dogfood permanent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36976" y="2377440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41985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Lead / Architecte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202936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3419856" y="2834640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419856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419856" y="3108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Archi, revue, stack, sécurité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63056" y="2377440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4593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Designer DS Twisty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8129016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ETP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345936" y="2834640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45936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345936" y="3108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DS, écritures, UX, prompts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9089136" y="2377440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72016" y="2468880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/ IA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11055096" y="2468880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ETP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272016" y="2834640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9272016" y="2834640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9272016" y="3108960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Agents, mémoire, prompts, Inngest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10896" y="3867912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93776" y="3959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Full-stack cloud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2276856" y="3959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ETP</a:t>
            </a:r>
            <a:endParaRPr lang="en-US" sz="1000" dirty="0"/>
          </a:p>
        </p:txBody>
      </p:sp>
      <p:sp>
        <p:nvSpPr>
          <p:cNvPr id="34" name="Shape 32"/>
          <p:cNvSpPr/>
          <p:nvPr/>
        </p:nvSpPr>
        <p:spPr>
          <a:xfrm>
            <a:off x="493776" y="4325112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93776" y="43251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V1-V2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493776" y="45994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Front, Supabase, Graph API, multi-tenant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236976" y="3867912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419856" y="3959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DevOps / SRE / Sécurité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5202936" y="3959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3419856" y="4325112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3419856" y="43251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3419856" y="45994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EU, RLS, audit RGPD, SOC 2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6163056" y="3867912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45936" y="3959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/ Évals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8129016" y="3959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ETP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6345936" y="4325112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6345936" y="43251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900" dirty="0"/>
          </a:p>
        </p:txBody>
      </p:sp>
      <p:sp>
        <p:nvSpPr>
          <p:cNvPr id="48" name="Text 46"/>
          <p:cNvSpPr/>
          <p:nvPr/>
        </p:nvSpPr>
        <p:spPr>
          <a:xfrm>
            <a:off x="6345936" y="45994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Évaluations qualité, fine-tuning, monitoring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9089136" y="3867912"/>
            <a:ext cx="2788920" cy="132588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272016" y="3959352"/>
            <a:ext cx="22402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produit psycho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11055096" y="3959352"/>
            <a:ext cx="640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0,5 ETP</a:t>
            </a:r>
            <a:endParaRPr lang="en-US" sz="1000" dirty="0"/>
          </a:p>
        </p:txBody>
      </p:sp>
      <p:sp>
        <p:nvSpPr>
          <p:cNvPr id="52" name="Shape 50"/>
          <p:cNvSpPr/>
          <p:nvPr/>
        </p:nvSpPr>
        <p:spPr>
          <a:xfrm>
            <a:off x="9272016" y="4325112"/>
            <a:ext cx="640080" cy="22860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9272016" y="4325112"/>
            <a:ext cx="640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900" dirty="0"/>
          </a:p>
        </p:txBody>
      </p:sp>
      <p:sp>
        <p:nvSpPr>
          <p:cNvPr id="54" name="Text 52"/>
          <p:cNvSpPr/>
          <p:nvPr/>
        </p:nvSpPr>
        <p:spPr>
          <a:xfrm>
            <a:off x="9272016" y="4599432"/>
            <a:ext cx="24231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Modes Opus, anti-burnout, ton</a:t>
            </a:r>
            <a:endParaRPr lang="en-US" sz="1000" dirty="0"/>
          </a:p>
        </p:txBody>
      </p:sp>
      <p:sp>
        <p:nvSpPr>
          <p:cNvPr id="55" name="Text 53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 2 semaines · revue PMO mensuelle · go/no-go trimestriel · sourcing CTO/lead infra dès go V1 (mi-2026).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11 / 16</a:t>
            </a:r>
            <a:endParaRPr lang="en-US" sz="900" dirty="0"/>
          </a:p>
        </p:txBody>
      </p:sp>
      <p:sp>
        <p:nvSpPr>
          <p:cNvPr id="57" name="Text 55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· MODÈLE ÉCONOMIQUE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Dogfood interne d'abord. SaaS premium V2+ ensuite.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Trois scénarios ARR fin 2027. Hypothèses à challenger lors des pilotes V2.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9476" y="233172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476" y="2331720"/>
            <a:ext cx="109728" cy="3291840"/>
          </a:xfrm>
          <a:prstGeom prst="rect">
            <a:avLst/>
          </a:prstGeom>
          <a:solidFill>
            <a:srgbClr val="7790AE"/>
          </a:solidFill>
          <a:ln w="12700">
            <a:solidFill>
              <a:srgbClr val="7790A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3796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653796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7790A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24 k€</a:t>
            </a:r>
            <a:pPr indent="0" marL="0">
              <a:buNone/>
            </a:pPr>
            <a:r>
              <a:rPr lang="en-US" sz="1400" dirty="0">
                <a:solidFill>
                  <a:srgbClr val="3A3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ARR</a:t>
            </a:r>
            <a:endParaRPr lang="en-US" sz="3600" dirty="0"/>
          </a:p>
        </p:txBody>
      </p:sp>
      <p:sp>
        <p:nvSpPr>
          <p:cNvPr id="11" name="Text 9"/>
          <p:cNvSpPr/>
          <p:nvPr/>
        </p:nvSpPr>
        <p:spPr>
          <a:xfrm>
            <a:off x="653796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CEO × 400 €/mois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53796" y="4434840"/>
            <a:ext cx="548640" cy="36576"/>
          </a:xfrm>
          <a:prstGeom prst="rect">
            <a:avLst/>
          </a:prstGeom>
          <a:solidFill>
            <a:srgbClr val="7790AE"/>
          </a:solidFill>
          <a:ln w="12700">
            <a:solidFill>
              <a:srgbClr val="7790A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7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1,4 % du coût total trajectoire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653796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Projet reste investissement ETIC, pivot SaaS standalone non viable.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265676" y="2331720"/>
            <a:ext cx="3657600" cy="3291840"/>
          </a:xfrm>
          <a:prstGeom prst="rect">
            <a:avLst/>
          </a:prstGeom>
          <a:solidFill>
            <a:srgbClr val="ECE7DD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265676" y="2331720"/>
            <a:ext cx="109728" cy="329184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39996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 · RECOMMANDÉ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4539996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146 k€</a:t>
            </a:r>
            <a:pPr indent="0" marL="0">
              <a:buNone/>
            </a:pPr>
            <a:r>
              <a:rPr lang="en-US" sz="1400" dirty="0">
                <a:solidFill>
                  <a:srgbClr val="3A3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ARR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4539996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CEO × 600 €/mois + 1 entreprise 5 k€/mois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39996" y="4434840"/>
            <a:ext cx="548640" cy="36576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539996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8,6 % du coût total trajectoire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539996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Cohérent avec écosystème ETIC + 1 client moyen ETI.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8151876" y="2331720"/>
            <a:ext cx="3657600" cy="3291840"/>
          </a:xfrm>
          <a:prstGeom prst="rect">
            <a:avLst/>
          </a:prstGeom>
          <a:solidFill>
            <a:srgbClr val="FFFFFF"/>
          </a:solidFill>
          <a:ln w="9525">
            <a:solidFill>
              <a:srgbClr val="E4E1D9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151876" y="2331720"/>
            <a:ext cx="109728" cy="329184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8426196" y="24688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300" kern="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HAUT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8426196" y="2788920"/>
            <a:ext cx="3200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528 k€</a:t>
            </a:r>
            <a:pPr indent="0" marL="0">
              <a:buNone/>
            </a:pPr>
            <a:r>
              <a:rPr lang="en-US" sz="1400" dirty="0">
                <a:solidFill>
                  <a:srgbClr val="3A3D44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 ARR</a:t>
            </a:r>
            <a:endParaRPr lang="en-US" sz="3600" dirty="0"/>
          </a:p>
        </p:txBody>
      </p:sp>
      <p:sp>
        <p:nvSpPr>
          <p:cNvPr id="27" name="Text 25"/>
          <p:cNvSpPr/>
          <p:nvPr/>
        </p:nvSpPr>
        <p:spPr>
          <a:xfrm>
            <a:off x="8426196" y="3794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CEO × 800 €/mois + 2 entreprises 12 k€/mois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8426196" y="4434840"/>
            <a:ext cx="548640" cy="36576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8426196" y="4526280"/>
            <a:ext cx="3200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31 % du coût total trajectoire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8426196" y="4937760"/>
            <a:ext cx="3200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Suppose canal actif (France Digitale, Bpifrance Excellence).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457200" y="5760720"/>
            <a:ext cx="11274552" cy="640080"/>
          </a:xfrm>
          <a:prstGeom prst="rect">
            <a:avLst/>
          </a:prstGeom>
          <a:solidFill>
            <a:srgbClr val="ECE7DD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760720"/>
            <a:ext cx="54864" cy="640080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640080" y="580644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 de sincérité — </a:t>
            </a:r>
            <a:pPr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même en scénario haut, l'ARR fin 2027 ne couvre pas le coût total trajectoire. Le projet est cadré comme investissement plateforme + écosystème ETIC, pas comme un startup play. Le point mort total suppose 250-350 CEO clients (horizon 2029-2030).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12 / 16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· COÛTS TRAJECTOIRE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1,69 M€ sur 18 mois — fonds propres ETIC + appoint éventuel V2.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Hypothèse 900 €/jour dev moyen, 4,5 j/sem effectifs, équipe ramping 3 → 9 ETP.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097280" cy="50292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594360" y="233172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554480" y="2331720"/>
            <a:ext cx="5943600" cy="50292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691640" y="2331720"/>
            <a:ext cx="56692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Périmètre clé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2331720"/>
            <a:ext cx="1280160" cy="50292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35240" y="2331720"/>
            <a:ext cx="1005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Durée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8778240" y="2331720"/>
            <a:ext cx="822960" cy="50292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15400" y="2331720"/>
            <a:ext cx="548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ETP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9601200" y="2331720"/>
            <a:ext cx="2103120" cy="50292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738360" y="2331720"/>
            <a:ext cx="1828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834640"/>
            <a:ext cx="112745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34640"/>
            <a:ext cx="54864" cy="640080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94360" y="283464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v0.5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1691640" y="283464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SQLite + 13 pages unifiées + Service Windows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635240" y="283464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sem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915400" y="283464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2,6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738360" y="283464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 k€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457200" y="3474720"/>
            <a:ext cx="11274552" cy="640080"/>
          </a:xfrm>
          <a:prstGeom prst="rect">
            <a:avLst/>
          </a:prstGeom>
          <a:solidFill>
            <a:srgbClr val="ECE7DD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57200" y="3474720"/>
            <a:ext cx="54864" cy="64008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94360" y="347472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691640" y="347472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 + Graph OAuth + Inngest + Bedrock EU + Langfuse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7635240" y="347472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915400" y="347472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4,3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9738360" y="347472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B8823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290 k€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114800"/>
            <a:ext cx="11274552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4114800"/>
            <a:ext cx="54864" cy="640080"/>
          </a:xfrm>
          <a:prstGeom prst="rect">
            <a:avLst/>
          </a:prstGeom>
          <a:solidFill>
            <a:srgbClr val="7790AE"/>
          </a:solidFill>
          <a:ln w="12700">
            <a:solidFill>
              <a:srgbClr val="7790A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94360" y="411480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V2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1691640" y="411480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Multi-tenant + RLS + Teams + tldraw + SOC 2 Type II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7635240" y="411480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 sem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8915400" y="411480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8,0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9738360" y="411480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790A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693 k€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457200" y="4754880"/>
            <a:ext cx="11274552" cy="640080"/>
          </a:xfrm>
          <a:prstGeom prst="rect">
            <a:avLst/>
          </a:prstGeom>
          <a:solidFill>
            <a:srgbClr val="ECE7DD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457200" y="4754880"/>
            <a:ext cx="54864" cy="640080"/>
          </a:xfrm>
          <a:prstGeom prst="rect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94360" y="4754880"/>
            <a:ext cx="822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V3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1691640" y="4754880"/>
            <a:ext cx="5669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Opus + détection burnout + PWA offline + multi-CEO</a:t>
            </a: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7635240" y="4754880"/>
            <a:ext cx="1005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sem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915400" y="4754880"/>
            <a:ext cx="5486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9,0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9738360" y="4754880"/>
            <a:ext cx="1828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598 k€</a:t>
            </a:r>
            <a:endParaRPr lang="en-US" sz="1300" dirty="0"/>
          </a:p>
        </p:txBody>
      </p:sp>
      <p:sp>
        <p:nvSpPr>
          <p:cNvPr id="45" name="Shape 43"/>
          <p:cNvSpPr/>
          <p:nvPr/>
        </p:nvSpPr>
        <p:spPr>
          <a:xfrm>
            <a:off x="457200" y="5394960"/>
            <a:ext cx="11274552" cy="59436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94360" y="5394960"/>
            <a:ext cx="8229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</a:t>
            </a:r>
            <a:endParaRPr lang="en-US" sz="1200" dirty="0"/>
          </a:p>
        </p:txBody>
      </p:sp>
      <p:sp>
        <p:nvSpPr>
          <p:cNvPr id="47" name="Text 45"/>
          <p:cNvSpPr/>
          <p:nvPr/>
        </p:nvSpPr>
        <p:spPr>
          <a:xfrm>
            <a:off x="1691640" y="5394960"/>
            <a:ext cx="56692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Plateforme V3 prête pour 2-3 CEO pairs en production · 62 sem cumulées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7635240" y="5394960"/>
            <a:ext cx="1005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62 sem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8915400" y="5394960"/>
            <a:ext cx="548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</a:t>
            </a:r>
            <a:endParaRPr lang="en-US" sz="1200" dirty="0"/>
          </a:p>
        </p:txBody>
      </p:sp>
      <p:sp>
        <p:nvSpPr>
          <p:cNvPr id="50" name="Text 48"/>
          <p:cNvSpPr/>
          <p:nvPr/>
        </p:nvSpPr>
        <p:spPr>
          <a:xfrm>
            <a:off x="9738360" y="5394960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≈ 1 691 k€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457200" y="6035040"/>
            <a:ext cx="112745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Hors trajectoire à provisionner (marketing pilote V2-V3, juridique RGPD, comptabilité, dual-vendor LLM) : ≈ 55-80 k€.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13 / 16</a:t>
            </a:r>
            <a:endParaRPr lang="en-US" sz="900" dirty="0"/>
          </a:p>
        </p:txBody>
      </p:sp>
      <p:sp>
        <p:nvSpPr>
          <p:cNvPr id="53" name="Text 51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D96D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· RISQUES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risques majeurs, cinq parades.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risque produit principal n'est pas technique — c'est la validation marché.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457200" y="2331720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57200" y="2331720"/>
            <a:ext cx="109728" cy="713232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" y="2496312"/>
            <a:ext cx="548640" cy="365760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0080" y="2496312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1325880" y="237744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Pont jetable v0.5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325880" y="2697480"/>
            <a:ext cx="10360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Schéma SQLite migrable 1:1 vers Postgres · couche services/outlook.js remplaçable · doc explicite jetable vs capitalisé.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457200" y="3090672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7200" y="3090672"/>
            <a:ext cx="109728" cy="713232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40080" y="3255264"/>
            <a:ext cx="548640" cy="365760"/>
          </a:xfrm>
          <a:prstGeom prst="rect">
            <a:avLst/>
          </a:prstGeom>
          <a:solidFill>
            <a:srgbClr val="D96D3E"/>
          </a:solidFill>
          <a:ln w="12700">
            <a:solidFill>
              <a:srgbClr val="D96D3E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640080" y="3255264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P0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325880" y="3136392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Modèle économique externe non validé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1325880" y="3456432"/>
            <a:ext cx="10360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Pré-V2 : 10-15 entretiens validation acheteur hors écosystème ETIC · pilote V2 réel facturé NPS M+3/M+6/M+12 · option pivot interne.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849624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57200" y="3849624"/>
            <a:ext cx="109728" cy="713232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40080" y="4014216"/>
            <a:ext cx="548640" cy="36576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40080" y="4014216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1325880" y="3895344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Dépendance Anthropic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325880" y="4215384"/>
            <a:ext cx="10360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V1 mirroring AWS Bedrock EU Frankfurt · V2 LiteLLM multi-vendeur · prompts versionnés pour re-tuning rapide.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57200" y="4608576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57200" y="4608576"/>
            <a:ext cx="109728" cy="713232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40080" y="4773168"/>
            <a:ext cx="548640" cy="36576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640080" y="4773168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1325880" y="465429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pilote unique (Feycoil)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325880" y="4974336"/>
            <a:ext cx="10360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Objectif COPIL T4 2026 : 2 CEO pilotes additionnels écosystème ETIC · rituel dogfood documenté · lead produit dédié budget V2.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57200" y="5367528"/>
            <a:ext cx="11274552" cy="713232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57200" y="5367528"/>
            <a:ext cx="109728" cy="713232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640080" y="5532120"/>
            <a:ext cx="548640" cy="36576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40080" y="553212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P1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1325880" y="54132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Écart compétences cloud / multi-tenant</a:t>
            </a:r>
            <a:endParaRPr lang="en-US" sz="1250" dirty="0"/>
          </a:p>
        </p:txBody>
      </p:sp>
      <p:sp>
        <p:nvSpPr>
          <p:cNvPr id="36" name="Text 34"/>
          <p:cNvSpPr/>
          <p:nvPr/>
        </p:nvSpPr>
        <p:spPr>
          <a:xfrm>
            <a:off x="1325880" y="5733288"/>
            <a:ext cx="10360152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Mitigation — </a:t>
            </a:r>
            <a:pPr indent="0" marL="0">
              <a:buNone/>
            </a:pPr>
            <a:r>
              <a:rPr lang="en-US" sz="1000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Sourcing CTO/lead infra dès go V1 mi-2026 · 12-15 % surcoût ETP intégré · partenariat Padok / Theodo Cloud externalisé SOC 2.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14 / 16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5F3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2004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spc="400" kern="0" dirty="0">
                <a:solidFill>
                  <a:srgbClr val="7A6A8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· KPIS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9902952" y="320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200" b="1" i="1" dirty="0">
                <a:solidFill>
                  <a:srgbClr val="3D7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713232"/>
            <a:ext cx="11274552" cy="10973"/>
          </a:xfrm>
          <a:prstGeom prst="rect">
            <a:avLst/>
          </a:prstGeom>
          <a:solidFill>
            <a:srgbClr val="E4E1D9"/>
          </a:solidFill>
          <a:ln w="12700">
            <a:solidFill>
              <a:srgbClr val="E4E1D9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14400"/>
            <a:ext cx="112745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qu'on mesure. 3 produits, 3 santé, 3 business.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457200" y="1691640"/>
            <a:ext cx="112745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3A3D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Rien de superflu. Mesurés à partir de V1 sur le CEO pilote.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374904" y="2331720"/>
            <a:ext cx="3703320" cy="411480"/>
          </a:xfrm>
          <a:prstGeom prst="rect">
            <a:avLst/>
          </a:prstGeom>
          <a:solidFill>
            <a:srgbClr val="3D7363"/>
          </a:solidFill>
          <a:ln w="12700">
            <a:solidFill>
              <a:srgbClr val="3D736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74904" y="2331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74904" y="2834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03504" y="2926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60 %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603504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Acceptance rate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03504" y="3611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propositions acceptées / proposées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374904" y="3977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03504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10 s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603504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Temps arbitrage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03504" y="4754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médiane oui / non / plus tard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74904" y="5120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03504" y="5212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3D73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92 %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603504" y="5669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Couverture mail+RDV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03504" y="5897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vus sans friction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42816" y="2331720"/>
            <a:ext cx="3703320" cy="411480"/>
          </a:xfrm>
          <a:prstGeom prst="rect">
            <a:avLst/>
          </a:prstGeom>
          <a:solidFill>
            <a:srgbClr val="7A6A8A"/>
          </a:solidFill>
          <a:ln w="12700">
            <a:solidFill>
              <a:srgbClr val="7A6A8A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42816" y="2331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SANTÉ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242816" y="2834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71416" y="2926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5-7 h/sem</a:t>
            </a:r>
            <a:endParaRPr lang="en-US" sz="2400" dirty="0"/>
          </a:p>
        </p:txBody>
      </p:sp>
      <p:sp>
        <p:nvSpPr>
          <p:cNvPr id="25" name="Text 23"/>
          <p:cNvSpPr/>
          <p:nvPr/>
        </p:nvSpPr>
        <p:spPr>
          <a:xfrm>
            <a:off x="4471416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Heures retrouvées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471416" y="3611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self-déclaré V1+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242816" y="3977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471416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70 %</a:t>
            </a:r>
            <a:endParaRPr lang="en-US" sz="2400" dirty="0"/>
          </a:p>
        </p:txBody>
      </p:sp>
      <p:sp>
        <p:nvSpPr>
          <p:cNvPr id="29" name="Text 27"/>
          <p:cNvSpPr/>
          <p:nvPr/>
        </p:nvSpPr>
        <p:spPr>
          <a:xfrm>
            <a:off x="4471416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Shutdown rate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471416" y="4754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rituel soir terminé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42816" y="5120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71416" y="5212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7A6A8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100 %</a:t>
            </a:r>
            <a:endParaRPr lang="en-US" sz="2400" dirty="0"/>
          </a:p>
        </p:txBody>
      </p:sp>
      <p:sp>
        <p:nvSpPr>
          <p:cNvPr id="33" name="Text 31"/>
          <p:cNvSpPr/>
          <p:nvPr/>
        </p:nvSpPr>
        <p:spPr>
          <a:xfrm>
            <a:off x="4471416" y="5669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Weekend muet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471416" y="5897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zéro notif sam-dim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8110728" y="2331720"/>
            <a:ext cx="3703320" cy="411480"/>
          </a:xfrm>
          <a:prstGeom prst="rect">
            <a:avLst/>
          </a:prstGeom>
          <a:solidFill>
            <a:srgbClr val="B88237"/>
          </a:solidFill>
          <a:ln w="12700">
            <a:solidFill>
              <a:srgbClr val="B88237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8110728" y="2331720"/>
            <a:ext cx="3703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10728" y="2834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339328" y="2926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80 %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8339328" y="3383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Rétention D30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339328" y="3611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CEO actifs 30 j après onboarding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110728" y="3977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8339328" y="4069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≥ 45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8339328" y="4526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NPS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8339328" y="4754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promoteurs - détracteurs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8110728" y="5120640"/>
            <a:ext cx="3703320" cy="1051560"/>
          </a:xfrm>
          <a:prstGeom prst="rect">
            <a:avLst/>
          </a:prstGeom>
          <a:solidFill>
            <a:srgbClr val="FFFFFF"/>
          </a:solidFill>
          <a:ln w="6350">
            <a:solidFill>
              <a:srgbClr val="E4E1D9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8339328" y="5212080"/>
            <a:ext cx="3246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50 €</a:t>
            </a:r>
            <a:endParaRPr lang="en-US" sz="2400" dirty="0"/>
          </a:p>
        </p:txBody>
      </p:sp>
      <p:sp>
        <p:nvSpPr>
          <p:cNvPr id="47" name="Text 45"/>
          <p:cNvSpPr/>
          <p:nvPr/>
        </p:nvSpPr>
        <p:spPr>
          <a:xfrm>
            <a:off x="8339328" y="566928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1141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Coût total/CEO/mois V1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8339328" y="5897880"/>
            <a:ext cx="3246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infra + LLM + support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457200" y="6446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Pitch deck investisseur · 15 / 16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330952" y="6446520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i="1" dirty="0">
                <a:solidFill>
                  <a:srgbClr val="6B6F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Réf. : BUSINESS-CASE.md · 02-benchmark.md · 08-roadmap.md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3D736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8229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F5F3E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Un CEO qui respire</a:t>
            </a:r>
            <a:endParaRPr lang="en-US" sz="4600" dirty="0"/>
          </a:p>
        </p:txBody>
      </p:sp>
      <p:sp>
        <p:nvSpPr>
          <p:cNvPr id="3" name="Text 1"/>
          <p:cNvSpPr/>
          <p:nvPr/>
        </p:nvSpPr>
        <p:spPr>
          <a:xfrm>
            <a:off x="640080" y="1737360"/>
            <a:ext cx="1090879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i="1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prend de meilleures décisions.</a:t>
            </a:r>
            <a:endParaRPr lang="en-US" sz="4600" dirty="0"/>
          </a:p>
        </p:txBody>
      </p:sp>
      <p:sp>
        <p:nvSpPr>
          <p:cNvPr id="4" name="Text 2"/>
          <p:cNvSpPr/>
          <p:nvPr/>
        </p:nvSpPr>
        <p:spPr>
          <a:xfrm>
            <a:off x="640080" y="3108960"/>
            <a:ext cx="109087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aiCEO n'est pas un outil de productivité. </a:t>
            </a:r>
            <a:pPr indent="0" marL="0">
              <a:buNone/>
            </a:pPr>
            <a:r>
              <a:rPr lang="en-US" sz="16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C'est un copilote stratégique qui protège votre attention, votre énergie, vos priorités. Il pense avec vous. Il ne vous remplace pas. Il vous rend le temps de décider vraiment — et le droit de ne pas décider aujourd'hui.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356616" y="4572000"/>
            <a:ext cx="3703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5F3E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30936" y="4617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1362456" y="4709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 en pair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362456" y="5074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Procédure ONBOARDING-CEO-PAIR.md, 1 h. Test silencieux 30 j sur tes vrais mails.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242816" y="4572000"/>
            <a:ext cx="3703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5F3E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17136" y="4617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800" dirty="0"/>
          </a:p>
        </p:txBody>
      </p:sp>
      <p:sp>
        <p:nvSpPr>
          <p:cNvPr id="11" name="Text 9"/>
          <p:cNvSpPr/>
          <p:nvPr/>
        </p:nvSpPr>
        <p:spPr>
          <a:xfrm>
            <a:off x="5248656" y="4709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Sponsoriser le pilote V1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248656" y="5074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T3-T4 2026. 2-3 CEO pairs ETIC valident la bascule cloud avant ouverture plus large.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8129016" y="4572000"/>
            <a:ext cx="3703320" cy="1463040"/>
          </a:xfrm>
          <a:prstGeom prst="rect">
            <a:avLst/>
          </a:prstGeom>
          <a:solidFill>
            <a:srgbClr val="FFFFFF">
              <a:alpha val="8000"/>
            </a:srgbClr>
          </a:solidFill>
          <a:ln w="9525">
            <a:solidFill>
              <a:srgbClr val="F5F3EF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403336" y="4617720"/>
            <a:ext cx="914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800" dirty="0">
                <a:solidFill>
                  <a:srgbClr val="B8823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9134856" y="4709160"/>
            <a:ext cx="2514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Investir early V1 → V3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134856" y="5074920"/>
            <a:ext cx="2514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Trajectoire 18 mois cadrée. Tour minoritaire 200-400 k€ envisageable phase V2 (T1 2027).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57200" y="6446520"/>
            <a:ext cx="112745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5F3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Feycoil Mouhoussoune</a:t>
            </a:r>
            <a:pPr algn="ctr" indent="0" marL="0">
              <a:buNone/>
            </a:pPr>
            <a:r>
              <a:rPr lang="en-US" sz="1100" dirty="0">
                <a:solidFill>
                  <a:srgbClr val="ECE7D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CEO ETIC Services · feycoil@etic-services.net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</vt:vector>
  </TitlesOfParts>
  <Company>ETIC Services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aiCEO — Pitch deck investisseur</dc:title>
  <dc:subject>Business angel · CEO pair · pré-tour interne</dc:subject>
  <dc:creator>Feycoil Mouhoussoune</dc:creator>
  <cp:lastModifiedBy>Feycoil Mouhoussoune</cp:lastModifiedBy>
  <cp:revision>1</cp:revision>
  <dcterms:created xsi:type="dcterms:W3CDTF">2026-04-24T23:03:19Z</dcterms:created>
  <dcterms:modified xsi:type="dcterms:W3CDTF">2026-04-24T23:03:19Z</dcterms:modified>
</cp:coreProperties>
</file>