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097280"/>
            <a:ext cx="5029200" cy="5029200"/>
          </a:xfrm>
          <a:prstGeom prst="ellipse">
            <a:avLst/>
          </a:prstGeom>
          <a:solidFill>
            <a:srgbClr val="D7CBEF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389120"/>
            <a:ext cx="2103120" cy="2103120"/>
          </a:xfrm>
          <a:prstGeom prst="ellipse">
            <a:avLst/>
          </a:prstGeom>
          <a:solidFill>
            <a:srgbClr val="F8C7BF"/>
          </a:solidFill>
          <a:ln/>
        </p:spPr>
      </p:sp>
      <p:sp>
        <p:nvSpPr>
          <p:cNvPr id="4" name="Shape 2"/>
          <p:cNvSpPr/>
          <p:nvPr/>
        </p:nvSpPr>
        <p:spPr>
          <a:xfrm>
            <a:off x="7863840" y="5303520"/>
            <a:ext cx="822960" cy="822960"/>
          </a:xfrm>
          <a:prstGeom prst="ellipse">
            <a:avLst/>
          </a:prstGeom>
          <a:solidFill>
            <a:srgbClr val="D9E8D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188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C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exécutif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1554480"/>
            <a:ext cx="9144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aiCEO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6B4B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copilote de dirigeant qui pense avec vous.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22960" y="438912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produit · Benchmark · Architecture · Roadmap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mois pour bâtir un chief-of-staff IA propre au groupe ETIC.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6126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2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· Feycoil Mouhoussoune, CEO ETIC Services · ADABU · START · AMANI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638251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A62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Avril 2026  ·  9 documents  ·  42 features  ·  1,7 M€ sur 18 mois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A62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CONTEXTE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201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maintenant.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forces convergent. Le moment d'agir est ouvert — mais pas indéfiniment.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2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 · Dossier exécutif · Avril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199632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2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Copilote · pour Feycoil Mouhoussoune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3712464" cy="4206240"/>
          </a:xfrm>
          <a:prstGeom prst="roundRect">
            <a:avLst>
              <a:gd name="adj" fmla="val 3448"/>
            </a:avLst>
          </a:prstGeom>
          <a:solidFill>
            <a:srgbClr val="D7CBEF"/>
          </a:solidFill>
          <a:ln/>
          <a:effectLst>
            <a:outerShdw sx="100000" sy="100000" kx="0" ky="0" algn="bl" rotWithShape="0" blurRad="127000" dist="38100" dir="7200000">
              <a:srgbClr val="1C1A22">
                <a:alpha val="9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1031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B4B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77240" y="28803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4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31546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LLM passent la ligne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77240" y="406908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4.5, GPT-5, Gemini 2.5 tiennent un raisonnement long, outillé, multi-étapes. L'agent proactif devient réaliste — plus un gadget.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79976" y="1828800"/>
            <a:ext cx="3712464" cy="4206240"/>
          </a:xfrm>
          <a:prstGeom prst="roundRect">
            <a:avLst>
              <a:gd name="adj" fmla="val 3448"/>
            </a:avLst>
          </a:prstGeom>
          <a:solidFill>
            <a:srgbClr val="F8C7BF"/>
          </a:solidFill>
          <a:ln/>
          <a:effectLst>
            <a:outerShdw sx="100000" sy="100000" kx="0" ky="0" algn="bl" rotWithShape="0" blurRad="127000" dist="38100" dir="7200000">
              <a:srgbClr val="1C1A22">
                <a:alpha val="9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54296" y="21031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C7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4654296" y="28803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C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54296" y="31546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CEO est saturé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654296" y="406908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M365, 8 sociétés, RDV clients, arbitrages techniques, comité stratégique. L'outil productivité classique déborde — il faut un chief-of-staff.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57032" y="1828800"/>
            <a:ext cx="3712464" cy="4206240"/>
          </a:xfrm>
          <a:prstGeom prst="roundRect">
            <a:avLst>
              <a:gd name="adj" fmla="val 3448"/>
            </a:avLst>
          </a:prstGeom>
          <a:solidFill>
            <a:srgbClr val="D9E8D6"/>
          </a:solidFill>
          <a:ln/>
          <a:effectLst>
            <a:outerShdw sx="100000" sy="100000" kx="0" ky="0" algn="bl" rotWithShape="0" blurRad="127000" dist="38100" dir="7200000">
              <a:srgbClr val="1C1A22">
                <a:alpha val="9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531352" y="21031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E6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8531352" y="28803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E6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531352" y="31546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fenêtre est étroite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531352" y="406908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Dust, Lindy, Martin, Athena lèvent et construisent. Mais personne n'a encore marié « copilote proactif » + « pensée visuelle native ». Le positionnement est à prendre.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61722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C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Décider en 2026 protège 18 mois d'avance.  Attendre 2027, c'est rattraper.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A62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PROBLÈME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201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déficits silencieux du dirigeant.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la productivité classique ne voit pas.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2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 · Dossier exécutif · Avril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199632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2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Copilote · pour Feycoil Mouhoussoune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3712464" cy="4206240"/>
          </a:xfrm>
          <a:prstGeom prst="roundRect">
            <a:avLst>
              <a:gd name="adj" fmla="val 29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7200000">
              <a:srgbClr val="1C1A22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2103120"/>
            <a:ext cx="731520" cy="731520"/>
          </a:xfrm>
          <a:prstGeom prst="ellipse">
            <a:avLst/>
          </a:prstGeom>
          <a:solidFill>
            <a:srgbClr val="CFE2EF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FB5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240" y="29718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Déficit d'attention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77240" y="34747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Teams, RDV, Slack, SharePoint. L'arbitrage quotidien coûte plus cher que la décision elle-même.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4937760"/>
            <a:ext cx="3200400" cy="914400"/>
          </a:xfrm>
          <a:prstGeom prst="roundRect">
            <a:avLst>
              <a:gd name="adj" fmla="val 10000"/>
            </a:avLst>
          </a:prstGeom>
          <a:solidFill>
            <a:srgbClr val="F2EBDD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9834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7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~47 %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240280" y="502920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temps perdu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triage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79976" y="1828800"/>
            <a:ext cx="3712464" cy="4206240"/>
          </a:xfrm>
          <a:prstGeom prst="roundRect">
            <a:avLst>
              <a:gd name="adj" fmla="val 29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7200000">
              <a:srgbClr val="1C1A22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54296" y="2103120"/>
            <a:ext cx="731520" cy="731520"/>
          </a:xfrm>
          <a:prstGeom prst="ellipse">
            <a:avLst/>
          </a:prstGeom>
          <a:solidFill>
            <a:srgbClr val="F8C7BF"/>
          </a:solidFill>
          <a:ln/>
        </p:spPr>
      </p:sp>
      <p:sp>
        <p:nvSpPr>
          <p:cNvPr id="17" name="Text 15"/>
          <p:cNvSpPr/>
          <p:nvPr/>
        </p:nvSpPr>
        <p:spPr>
          <a:xfrm>
            <a:off x="4654296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C7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654296" y="29718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Déficit de délégation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654296" y="34747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Déléguer prend plus de temps que faire soi-même. Le perfectionnisme verrouille. La confiance s'érode.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54296" y="4937760"/>
            <a:ext cx="3200400" cy="914400"/>
          </a:xfrm>
          <a:prstGeom prst="roundRect">
            <a:avLst>
              <a:gd name="adj" fmla="val 10000"/>
            </a:avLst>
          </a:prstGeom>
          <a:solidFill>
            <a:srgbClr val="F2EBDD"/>
          </a:solidFill>
          <a:ln/>
        </p:spPr>
      </p:sp>
      <p:sp>
        <p:nvSpPr>
          <p:cNvPr id="21" name="Text 19"/>
          <p:cNvSpPr/>
          <p:nvPr/>
        </p:nvSpPr>
        <p:spPr>
          <a:xfrm>
            <a:off x="4791456" y="49834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7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~3x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117336" y="502920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passé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de lâcher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57032" y="1828800"/>
            <a:ext cx="3712464" cy="4206240"/>
          </a:xfrm>
          <a:prstGeom prst="roundRect">
            <a:avLst>
              <a:gd name="adj" fmla="val 29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7200000">
              <a:srgbClr val="1C1A22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531352" y="2103120"/>
            <a:ext cx="731520" cy="731520"/>
          </a:xfrm>
          <a:prstGeom prst="ellipse">
            <a:avLst/>
          </a:prstGeom>
          <a:solidFill>
            <a:srgbClr val="D9E8D6"/>
          </a:solidFill>
          <a:ln/>
        </p:spPr>
      </p:sp>
      <p:sp>
        <p:nvSpPr>
          <p:cNvPr id="25" name="Text 23"/>
          <p:cNvSpPr/>
          <p:nvPr/>
        </p:nvSpPr>
        <p:spPr>
          <a:xfrm>
            <a:off x="8531352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E6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531352" y="29718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Déficit de respiration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531352" y="34747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revue hebdo, pas de Big Rocks, pas d'intention. Le dirigeant court — mais sans cap stable.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531352" y="4937760"/>
            <a:ext cx="3200400" cy="914400"/>
          </a:xfrm>
          <a:prstGeom prst="roundRect">
            <a:avLst>
              <a:gd name="adj" fmla="val 10000"/>
            </a:avLst>
          </a:prstGeom>
          <a:solidFill>
            <a:srgbClr val="F2EBDD"/>
          </a:solidFill>
          <a:ln/>
        </p:spPr>
      </p:sp>
      <p:sp>
        <p:nvSpPr>
          <p:cNvPr id="29" name="Text 27"/>
          <p:cNvSpPr/>
          <p:nvPr/>
        </p:nvSpPr>
        <p:spPr>
          <a:xfrm>
            <a:off x="8668512" y="49834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7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15 min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9994392" y="502920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consacrées/sem.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la revue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" y="61722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A62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L'outil productivité classique résout le « quoi ». Le dirigeant a besoin d'aide sur le « quand, pourquoi, et avec qui ».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A62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THÈSE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201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qu'aiCEO est — et ce qu'il n'est pas.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2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 · Dossier exécutif · Avril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199632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2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Copilote · pour Feycoil Mouhoussoune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5760720" cy="4389120"/>
          </a:xfrm>
          <a:prstGeom prst="roundRect">
            <a:avLst>
              <a:gd name="adj" fmla="val 2917"/>
            </a:avLst>
          </a:prstGeom>
          <a:solidFill>
            <a:srgbClr val="D7CBEF"/>
          </a:solidFill>
          <a:ln/>
          <a:effectLst>
            <a:outerShdw sx="100000" sy="100000" kx="0" ky="0" algn="bl" rotWithShape="0" blurRad="127000" dist="38100" dir="7200000">
              <a:srgbClr val="1C1A22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01168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aiCEO est un copilote stratégique, pas un assistant exécutif.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77240" y="301752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4B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pense avec vous, en arrière-plan.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3611880"/>
            <a:ext cx="5303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observe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emails, vos RDV, vos projets, vos décisions.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diagnostique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tensions — charge, retard, engagement flottant, conflit de priorité.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propose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actions — brouillon de mail, tâche, arbitrage, report, délégation.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apprend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chaque « oui / non / plus tard » et s'aligne à votre style.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92240" y="1828800"/>
            <a:ext cx="5257800" cy="438912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7200000">
              <a:srgbClr val="1C1A22">
                <a:alpha val="9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20840" y="2011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C7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qu'aiCEO n'est pas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720840" y="2679192"/>
            <a:ext cx="164592" cy="164592"/>
          </a:xfrm>
          <a:prstGeom prst="ellipse">
            <a:avLst/>
          </a:prstGeom>
          <a:solidFill>
            <a:srgbClr val="EC7A6A"/>
          </a:solidFill>
          <a:ln/>
        </p:spPr>
      </p:sp>
      <p:sp>
        <p:nvSpPr>
          <p:cNvPr id="13" name="Text 11"/>
          <p:cNvSpPr/>
          <p:nvPr/>
        </p:nvSpPr>
        <p:spPr>
          <a:xfrm>
            <a:off x="6995160" y="26060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un ChatGPT enveloppé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95160" y="2880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cherche à supprimer le chat du parcours quotidien.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720840" y="3392424"/>
            <a:ext cx="164592" cy="164592"/>
          </a:xfrm>
          <a:prstGeom prst="ellipse">
            <a:avLst/>
          </a:prstGeom>
          <a:solidFill>
            <a:srgbClr val="EC7A6A"/>
          </a:solidFill>
          <a:ln/>
        </p:spPr>
      </p:sp>
      <p:sp>
        <p:nvSpPr>
          <p:cNvPr id="16" name="Text 14"/>
          <p:cNvSpPr/>
          <p:nvPr/>
        </p:nvSpPr>
        <p:spPr>
          <a:xfrm>
            <a:off x="6995160" y="33192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un Notion + IA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95160" y="35935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base n'est pas un CMS, c'est un graphe vivant d'objets métiers.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720840" y="4105656"/>
            <a:ext cx="164592" cy="164592"/>
          </a:xfrm>
          <a:prstGeom prst="ellipse">
            <a:avLst/>
          </a:prstGeom>
          <a:solidFill>
            <a:srgbClr val="EC7A6A"/>
          </a:solidFill>
          <a:ln/>
        </p:spPr>
      </p:sp>
      <p:sp>
        <p:nvSpPr>
          <p:cNvPr id="19" name="Text 17"/>
          <p:cNvSpPr/>
          <p:nvPr/>
        </p:nvSpPr>
        <p:spPr>
          <a:xfrm>
            <a:off x="6995160" y="403250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un assistant de prise de note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95160" y="430682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comprend le contexte de la décision, pas juste le verbatim.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720840" y="4818888"/>
            <a:ext cx="164592" cy="164592"/>
          </a:xfrm>
          <a:prstGeom prst="ellipse">
            <a:avLst/>
          </a:prstGeom>
          <a:solidFill>
            <a:srgbClr val="EC7A6A"/>
          </a:solidFill>
          <a:ln/>
        </p:spPr>
      </p:sp>
      <p:sp>
        <p:nvSpPr>
          <p:cNvPr id="22" name="Text 20"/>
          <p:cNvSpPr/>
          <p:nvPr/>
        </p:nvSpPr>
        <p:spPr>
          <a:xfrm>
            <a:off x="6995160" y="474573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une autre inbox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95160" y="50200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lit les emails pour vous et propose — il ne rajoute pas de notifications.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720840" y="5532120"/>
            <a:ext cx="164592" cy="164592"/>
          </a:xfrm>
          <a:prstGeom prst="ellipse">
            <a:avLst/>
          </a:prstGeom>
          <a:solidFill>
            <a:srgbClr val="EC7A6A"/>
          </a:solidFill>
          <a:ln/>
        </p:spPr>
      </p:sp>
      <p:sp>
        <p:nvSpPr>
          <p:cNvPr id="25" name="Text 23"/>
          <p:cNvSpPr/>
          <p:nvPr/>
        </p:nvSpPr>
        <p:spPr>
          <a:xfrm>
            <a:off x="6995160" y="54589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un chatbot qui attend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95160" y="57332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vous parle seulement quand ça apporte une décision nette.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A62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SYSTÈME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201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couches, un seul cerveau.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copilote lit le monde (contexte), le décrypte (intelligence), et se montre juste assez (interface).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2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 · Dossier exécutif · Avril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199632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2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Copilote · pour Feycoil Mouhoussoune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14400" y="1920240"/>
            <a:ext cx="10332720" cy="1234440"/>
          </a:xfrm>
          <a:prstGeom prst="roundRect">
            <a:avLst>
              <a:gd name="adj" fmla="val 10370"/>
            </a:avLst>
          </a:prstGeom>
          <a:solidFill>
            <a:srgbClr val="F8C7BF"/>
          </a:solidFill>
          <a:ln/>
          <a:effectLst>
            <a:outerShdw sx="100000" sy="100000" kx="0" ky="0" algn="bl" rotWithShape="0" blurRad="127000" dist="38100" dir="7200000">
              <a:srgbClr val="1C1A22">
                <a:alpha val="9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23444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EC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34440" y="23591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Cockpit · Vues · Rituels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303520" y="21031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pages (Cockpit, Portefeuille, Projet, Tâches, Décisions, Agenda, Contacts, Revues, Copilote). 6 vues sur un même nœud (liste · grid · arbre · graphe · canvas · timeline). 3 rituels (matin · soir · dimanche).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14400" y="3355848"/>
            <a:ext cx="10332720" cy="1234440"/>
          </a:xfrm>
          <a:prstGeom prst="roundRect">
            <a:avLst>
              <a:gd name="adj" fmla="val 10370"/>
            </a:avLst>
          </a:prstGeom>
          <a:solidFill>
            <a:srgbClr val="D7CBEF"/>
          </a:solidFill>
          <a:ln/>
          <a:effectLst>
            <a:outerShdw sx="100000" sy="100000" kx="0" ky="0" algn="bl" rotWithShape="0" blurRad="127000" dist="38100" dir="7200000">
              <a:srgbClr val="1C1A22">
                <a:alpha val="9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234440" y="3538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6B4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34440" y="37947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 · Mémoire · Apprentissage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303520" y="3538728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4.5 (raisonnement) · GPT-5-mini (batch rapide) · Gemini 2.5 (doc long). LangGraph + Inngest. Mémoire hiérarchique (identity/preference/episode) avec pgvector + Voyage-3. 15 propositions/jour max.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14400" y="4791456"/>
            <a:ext cx="10332720" cy="1234440"/>
          </a:xfrm>
          <a:prstGeom prst="roundRect">
            <a:avLst>
              <a:gd name="adj" fmla="val 10370"/>
            </a:avLst>
          </a:prstGeom>
          <a:solidFill>
            <a:srgbClr val="D9E8D6"/>
          </a:solidFill>
          <a:ln/>
          <a:effectLst>
            <a:outerShdw sx="100000" sy="100000" kx="0" ky="0" algn="bl" rotWithShape="0" blurRad="127000" dist="38100" dir="7200000">
              <a:srgbClr val="1C1A22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234440" y="49743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3E6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34440" y="523036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 365 · Graphe · ETIC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03520" y="4974336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API (mail, calendar, Teams, SharePoint) en delta queries + webhooks. Base Postgres (Supabase) : projets, tâches, décisions, contacts, groupes. RLS par groupe + chiffrement. Source de vérité unifiée.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61722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C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graphe. Plusieurs points de vue. Un agent qui relie tout.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A62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BENCHMARK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201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produits étudiés · 3 familles.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Chief-of-staff IA · Pensée visuelle · Productivité agentique.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2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 · Dossier exécutif · Avril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199632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2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Copilote · pour Feycoil Mouhoussoune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28800"/>
          <a:ext cx="112471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188720"/>
                <a:gridCol w="914400"/>
                <a:gridCol w="1188720"/>
                <a:gridCol w="822960"/>
                <a:gridCol w="38404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Proactivité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Délégation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M365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 qu'on retient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D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Chief-of-staff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Multi-agents, mémoire équipe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Lindy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Chief-of-staff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Workflows par triggers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Martin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Chief-of-staff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Voice-first, calendar natif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Athena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Chief-of-staff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Délégation humain + 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Pensée visuelle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nœud, N vues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Heptabase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Pensée visuelle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Canvas cartes, liens visuels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Napkin 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Pensée visuelle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Texte → visuel auto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Pensée visuelle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 + IA conversationnelle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Productivité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Agenda auto-reschedule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Sunsama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Productivité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Rituels quotidiens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Superhuman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Productivité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Inbox IA rapide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Reclaim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Productivité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Protection focus 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B4B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aiCEO (cible)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CB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B4B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Chief-of-staff visuel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CB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B4B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CB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B4B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CB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B4B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CB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B4B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CB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B4B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Proactif · visuel · délégation · FR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CBE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02920" y="61722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C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 ne coche les quatre colonnes. L'espace « proactif × visuel » est ouvert.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A62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POSITIONNEMENT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201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Où se tient aiCEO.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horizontal : proactivité de l'IA. Axe vertical : richesse de la pensée visuelle.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2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 · Dossier exécutif · Avril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199632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2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Copilote · pour Feycoil Mouhoussoune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011680" y="1920240"/>
            <a:ext cx="80467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B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0" y="1920240"/>
            <a:ext cx="0" cy="3931920"/>
          </a:xfrm>
          <a:prstGeom prst="line">
            <a:avLst/>
          </a:prstGeom>
          <a:noFill/>
          <a:ln w="12700">
            <a:solidFill>
              <a:srgbClr val="D9CFBC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2011680" y="3886200"/>
            <a:ext cx="8046720" cy="0"/>
          </a:xfrm>
          <a:prstGeom prst="line">
            <a:avLst/>
          </a:prstGeom>
          <a:noFill/>
          <a:ln w="12700">
            <a:solidFill>
              <a:srgbClr val="D9CFBC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1920240" y="5943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62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Très proactif →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11680" y="5943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2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Peu proactif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19202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62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Visuel riche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" y="5577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62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Textuel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250070" y="5373014"/>
            <a:ext cx="329184" cy="329184"/>
          </a:xfrm>
          <a:prstGeom prst="ellipse">
            <a:avLst/>
          </a:prstGeom>
          <a:solidFill>
            <a:srgbClr val="6A6277"/>
          </a:solidFill>
          <a:ln/>
        </p:spPr>
      </p:sp>
      <p:sp>
        <p:nvSpPr>
          <p:cNvPr id="15" name="Text 13"/>
          <p:cNvSpPr/>
          <p:nvPr/>
        </p:nvSpPr>
        <p:spPr>
          <a:xfrm>
            <a:off x="7741310" y="540959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Superhuman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767267" y="4822546"/>
            <a:ext cx="329184" cy="329184"/>
          </a:xfrm>
          <a:prstGeom prst="ellipse">
            <a:avLst/>
          </a:prstGeom>
          <a:solidFill>
            <a:srgbClr val="6A6277"/>
          </a:solidFill>
          <a:ln/>
        </p:spPr>
      </p:sp>
      <p:sp>
        <p:nvSpPr>
          <p:cNvPr id="17" name="Text 15"/>
          <p:cNvSpPr/>
          <p:nvPr/>
        </p:nvSpPr>
        <p:spPr>
          <a:xfrm>
            <a:off x="9142171" y="485912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Lindy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123530" y="4507992"/>
            <a:ext cx="329184" cy="329184"/>
          </a:xfrm>
          <a:prstGeom prst="ellipse">
            <a:avLst/>
          </a:prstGeom>
          <a:solidFill>
            <a:srgbClr val="6A6277"/>
          </a:solidFill>
          <a:ln/>
        </p:spPr>
      </p:sp>
      <p:sp>
        <p:nvSpPr>
          <p:cNvPr id="19" name="Text 17"/>
          <p:cNvSpPr/>
          <p:nvPr/>
        </p:nvSpPr>
        <p:spPr>
          <a:xfrm>
            <a:off x="8498434" y="45445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928202" y="5137099"/>
            <a:ext cx="329184" cy="329184"/>
          </a:xfrm>
          <a:prstGeom prst="ellipse">
            <a:avLst/>
          </a:prstGeom>
          <a:solidFill>
            <a:srgbClr val="6A6277"/>
          </a:solidFill>
          <a:ln/>
        </p:spPr>
      </p:sp>
      <p:sp>
        <p:nvSpPr>
          <p:cNvPr id="21" name="Text 19"/>
          <p:cNvSpPr/>
          <p:nvPr/>
        </p:nvSpPr>
        <p:spPr>
          <a:xfrm>
            <a:off x="9303106" y="5173675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640726" y="4822546"/>
            <a:ext cx="329184" cy="329184"/>
          </a:xfrm>
          <a:prstGeom prst="ellipse">
            <a:avLst/>
          </a:prstGeom>
          <a:solidFill>
            <a:srgbClr val="6A6277"/>
          </a:solidFill>
          <a:ln/>
        </p:spPr>
      </p:sp>
      <p:sp>
        <p:nvSpPr>
          <p:cNvPr id="23" name="Text 21"/>
          <p:cNvSpPr/>
          <p:nvPr/>
        </p:nvSpPr>
        <p:spPr>
          <a:xfrm>
            <a:off x="6131966" y="485912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72784" y="5490972"/>
            <a:ext cx="329184" cy="329184"/>
          </a:xfrm>
          <a:prstGeom prst="ellipse">
            <a:avLst/>
          </a:prstGeom>
          <a:solidFill>
            <a:srgbClr val="6A6277"/>
          </a:solidFill>
          <a:ln/>
        </p:spPr>
      </p:sp>
      <p:sp>
        <p:nvSpPr>
          <p:cNvPr id="25" name="Text 23"/>
          <p:cNvSpPr/>
          <p:nvPr/>
        </p:nvSpPr>
        <p:spPr>
          <a:xfrm>
            <a:off x="6647688" y="55275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226710" y="5294376"/>
            <a:ext cx="329184" cy="329184"/>
          </a:xfrm>
          <a:prstGeom prst="ellipse">
            <a:avLst/>
          </a:prstGeom>
          <a:solidFill>
            <a:srgbClr val="6A6277"/>
          </a:solidFill>
          <a:ln/>
        </p:spPr>
      </p:sp>
      <p:sp>
        <p:nvSpPr>
          <p:cNvPr id="27" name="Text 25"/>
          <p:cNvSpPr/>
          <p:nvPr/>
        </p:nvSpPr>
        <p:spPr>
          <a:xfrm>
            <a:off x="3717950" y="53309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Sunsama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36054" y="5097780"/>
            <a:ext cx="329184" cy="329184"/>
          </a:xfrm>
          <a:prstGeom prst="ellipse">
            <a:avLst/>
          </a:prstGeom>
          <a:solidFill>
            <a:srgbClr val="6A6277"/>
          </a:solidFill>
          <a:ln/>
        </p:spPr>
      </p:sp>
      <p:sp>
        <p:nvSpPr>
          <p:cNvPr id="29" name="Text 27"/>
          <p:cNvSpPr/>
          <p:nvPr/>
        </p:nvSpPr>
        <p:spPr>
          <a:xfrm>
            <a:off x="7210958" y="51343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Reclaim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422038" y="3525012"/>
            <a:ext cx="329184" cy="329184"/>
          </a:xfrm>
          <a:prstGeom prst="ellipse">
            <a:avLst/>
          </a:prstGeom>
          <a:solidFill>
            <a:srgbClr val="6A6277"/>
          </a:solidFill>
          <a:ln/>
        </p:spPr>
      </p:sp>
      <p:sp>
        <p:nvSpPr>
          <p:cNvPr id="31" name="Text 29"/>
          <p:cNvSpPr/>
          <p:nvPr/>
        </p:nvSpPr>
        <p:spPr>
          <a:xfrm>
            <a:off x="4796942" y="35615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226710" y="2542032"/>
            <a:ext cx="329184" cy="329184"/>
          </a:xfrm>
          <a:prstGeom prst="ellipse">
            <a:avLst/>
          </a:prstGeom>
          <a:solidFill>
            <a:srgbClr val="6A6277"/>
          </a:solidFill>
          <a:ln/>
        </p:spPr>
      </p:sp>
      <p:sp>
        <p:nvSpPr>
          <p:cNvPr id="33" name="Text 31"/>
          <p:cNvSpPr/>
          <p:nvPr/>
        </p:nvSpPr>
        <p:spPr>
          <a:xfrm>
            <a:off x="5601614" y="25786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Napkin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812694" y="2856586"/>
            <a:ext cx="329184" cy="329184"/>
          </a:xfrm>
          <a:prstGeom prst="ellipse">
            <a:avLst/>
          </a:prstGeom>
          <a:solidFill>
            <a:srgbClr val="6A6277"/>
          </a:solidFill>
          <a:ln/>
        </p:spPr>
      </p:sp>
      <p:sp>
        <p:nvSpPr>
          <p:cNvPr id="35" name="Text 33"/>
          <p:cNvSpPr/>
          <p:nvPr/>
        </p:nvSpPr>
        <p:spPr>
          <a:xfrm>
            <a:off x="3187598" y="289316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Heptabase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17366" y="2227478"/>
            <a:ext cx="329184" cy="329184"/>
          </a:xfrm>
          <a:prstGeom prst="ellipse">
            <a:avLst/>
          </a:prstGeom>
          <a:solidFill>
            <a:srgbClr val="6A6277"/>
          </a:solidFill>
          <a:ln/>
        </p:spPr>
      </p:sp>
      <p:sp>
        <p:nvSpPr>
          <p:cNvPr id="37" name="Text 35"/>
          <p:cNvSpPr/>
          <p:nvPr/>
        </p:nvSpPr>
        <p:spPr>
          <a:xfrm>
            <a:off x="3992270" y="226405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Tana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299094" y="2395728"/>
            <a:ext cx="621792" cy="621792"/>
          </a:xfrm>
          <a:prstGeom prst="ellipse">
            <a:avLst/>
          </a:prstGeom>
          <a:solidFill>
            <a:srgbClr val="6B4B9F"/>
          </a:solidFill>
          <a:ln/>
        </p:spPr>
      </p:sp>
      <p:sp>
        <p:nvSpPr>
          <p:cNvPr id="39" name="Text 37"/>
          <p:cNvSpPr/>
          <p:nvPr/>
        </p:nvSpPr>
        <p:spPr>
          <a:xfrm>
            <a:off x="8966606" y="25786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4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678778" y="2057400"/>
            <a:ext cx="3218688" cy="1376172"/>
          </a:xfrm>
          <a:prstGeom prst="roundRect">
            <a:avLst>
              <a:gd name="adj" fmla="val 7973"/>
            </a:avLst>
          </a:prstGeom>
          <a:solidFill>
            <a:srgbClr val="D7CBEF">
              <a:alpha val="50000"/>
            </a:srgbClr>
          </a:solidFill>
          <a:ln w="12700">
            <a:solidFill>
              <a:srgbClr val="6B4B9F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6815938" y="2103120"/>
            <a:ext cx="2944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6B4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mort du marché</a:t>
            </a:r>
            <a:endParaRPr lang="en-US" sz="1000" dirty="0"/>
          </a:p>
          <a:p>
            <a:pPr indent="0" marL="0">
              <a:buNone/>
            </a:pPr>
            <a:r>
              <a:rPr lang="en-US" sz="1000" b="1" i="1" dirty="0">
                <a:solidFill>
                  <a:srgbClr val="6B4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aiCEO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02920" y="61722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C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Proactivité maximale + pensée visuelle riche : un seul produit y vise.  Le nôtre.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A62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PRINCIPES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201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Sept règles qui gouvernent tout.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fonctionnalité, chaque mot, chaque pixel doit pouvoir s'y rattacher.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2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 · Dossier exécutif · Avril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199632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2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Copilote · pour Feycoil Mouhoussoune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3657600" cy="2103120"/>
          </a:xfrm>
          <a:prstGeom prst="roundRect">
            <a:avLst>
              <a:gd name="adj" fmla="val 6087"/>
            </a:avLst>
          </a:prstGeom>
          <a:solidFill>
            <a:srgbClr val="D7CBEF"/>
          </a:solidFill>
          <a:ln/>
          <a:effectLst>
            <a:outerShdw sx="100000" sy="100000" kx="0" ky="0" algn="bl" rotWithShape="0" blurRad="127000" dist="38100" dir="7200000">
              <a:srgbClr val="1C1A22">
                <a:alpha val="9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B4B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Décider, pas tout faire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32461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proposition doit tendre vers un OUI/NON/PLUS TARD en &lt;10 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97680" y="1874520"/>
            <a:ext cx="3657600" cy="2103120"/>
          </a:xfrm>
          <a:prstGeom prst="roundRect">
            <a:avLst>
              <a:gd name="adj" fmla="val 6087"/>
            </a:avLst>
          </a:prstGeom>
          <a:solidFill>
            <a:srgbClr val="D7CBEF"/>
          </a:solidFill>
          <a:ln/>
          <a:effectLst>
            <a:outerShdw sx="100000" sy="100000" kx="0" ky="0" algn="bl" rotWithShape="0" blurRad="127000" dist="38100" dir="7200000">
              <a:srgbClr val="1C1A22">
                <a:alpha val="9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8056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B4B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480560" y="27432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Visible d'abord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480560" y="32461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le texte, il y a la carte, le graphe, l'arbre, le tableau.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92440" y="1874520"/>
            <a:ext cx="3657600" cy="2103120"/>
          </a:xfrm>
          <a:prstGeom prst="roundRect">
            <a:avLst>
              <a:gd name="adj" fmla="val 6087"/>
            </a:avLst>
          </a:prstGeom>
          <a:solidFill>
            <a:srgbClr val="D7CBEF"/>
          </a:solidFill>
          <a:ln/>
          <a:effectLst>
            <a:outerShdw sx="100000" sy="100000" kx="0" ky="0" algn="bl" rotWithShape="0" blurRad="127000" dist="38100" dir="7200000">
              <a:srgbClr val="1C1A22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7532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B4B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8275320" y="27432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silence a de la valeur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75320" y="32461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interruptions/jour max. Weekend muet par défaut.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4114800"/>
            <a:ext cx="2708910" cy="2057400"/>
          </a:xfrm>
          <a:prstGeom prst="roundRect">
            <a:avLst>
              <a:gd name="adj" fmla="val 6222"/>
            </a:avLst>
          </a:prstGeom>
          <a:solidFill>
            <a:srgbClr val="D9E8D6"/>
          </a:solidFill>
          <a:ln/>
          <a:effectLst>
            <a:outerShdw sx="100000" sy="100000" kx="0" ky="0" algn="bl" rotWithShape="0" blurRad="127000" dist="38100" dir="7200000">
              <a:srgbClr val="1C1A22">
                <a:alpha val="9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" y="4297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E6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85800" y="4983480"/>
            <a:ext cx="23431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Pensée avec, pas à la place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85800" y="5486400"/>
            <a:ext cx="23431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copilote expose les pièces, le dirigeant arbitre.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348990" y="4114800"/>
            <a:ext cx="2708910" cy="2057400"/>
          </a:xfrm>
          <a:prstGeom prst="roundRect">
            <a:avLst>
              <a:gd name="adj" fmla="val 6222"/>
            </a:avLst>
          </a:prstGeom>
          <a:solidFill>
            <a:srgbClr val="D9E8D6"/>
          </a:solidFill>
          <a:ln/>
          <a:effectLst>
            <a:outerShdw sx="100000" sy="100000" kx="0" ky="0" algn="bl" rotWithShape="0" blurRad="127000" dist="38100" dir="7200000">
              <a:srgbClr val="1C1A22">
                <a:alpha val="9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531870" y="4297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E6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3531870" y="4983480"/>
            <a:ext cx="23431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Mémoire qui respecte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531870" y="5486400"/>
            <a:ext cx="23431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Oubli actif. Droit de suppression. Scopes étanches par société.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195060" y="4114800"/>
            <a:ext cx="2708910" cy="2057400"/>
          </a:xfrm>
          <a:prstGeom prst="roundRect">
            <a:avLst>
              <a:gd name="adj" fmla="val 6222"/>
            </a:avLst>
          </a:prstGeom>
          <a:solidFill>
            <a:srgbClr val="D9E8D6"/>
          </a:solidFill>
          <a:ln/>
          <a:effectLst>
            <a:outerShdw sx="100000" sy="100000" kx="0" ky="0" algn="bl" rotWithShape="0" blurRad="127000" dist="38100" dir="7200000">
              <a:srgbClr val="1C1A22">
                <a:alpha val="9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377940" y="4297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E6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6377940" y="4983480"/>
            <a:ext cx="23431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Douceur ferme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377940" y="5486400"/>
            <a:ext cx="23431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 chief-of-staff senior — pas coach sportif, pas chatbot serviable.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9041130" y="4114800"/>
            <a:ext cx="2708910" cy="2057400"/>
          </a:xfrm>
          <a:prstGeom prst="roundRect">
            <a:avLst>
              <a:gd name="adj" fmla="val 6222"/>
            </a:avLst>
          </a:prstGeom>
          <a:solidFill>
            <a:srgbClr val="D9E8D6"/>
          </a:solidFill>
          <a:ln/>
          <a:effectLst>
            <a:outerShdw sx="100000" sy="100000" kx="0" ky="0" algn="bl" rotWithShape="0" blurRad="127000" dist="38100" dir="7200000">
              <a:srgbClr val="1C1A22">
                <a:alpha val="9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224010" y="4297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E6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9224010" y="4983480"/>
            <a:ext cx="23431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Flux d'énergie &gt; flux d'output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224010" y="5486400"/>
            <a:ext cx="23431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Matin/soir/dimanche. Le repos fait partie du système.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A62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IA PROACTIVE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201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Grammaire d'une proposition.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ingrédients, 3 boutons, 15 propositions/jour max.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2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 · Dossier exécutif · Avril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199632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2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Copilote · pour Feycoil Mouhoussoune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5486400" cy="438912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7200000">
              <a:srgbClr val="1C1A22">
                <a:alpha val="9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0116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Anatomie d'une proposition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58952" y="2514600"/>
            <a:ext cx="402336" cy="402336"/>
          </a:xfrm>
          <a:prstGeom prst="ellipse">
            <a:avLst/>
          </a:prstGeom>
          <a:solidFill>
            <a:srgbClr val="F8C7BF"/>
          </a:solidFill>
          <a:ln/>
        </p:spPr>
      </p:sp>
      <p:sp>
        <p:nvSpPr>
          <p:cNvPr id="10" name="Text 8"/>
          <p:cNvSpPr/>
          <p:nvPr/>
        </p:nvSpPr>
        <p:spPr>
          <a:xfrm>
            <a:off x="758952" y="2514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EC7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10" dirty="0"/>
          </a:p>
        </p:txBody>
      </p:sp>
      <p:sp>
        <p:nvSpPr>
          <p:cNvPr id="11" name="Text 9"/>
          <p:cNvSpPr/>
          <p:nvPr/>
        </p:nvSpPr>
        <p:spPr>
          <a:xfrm>
            <a:off x="1280160" y="2514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Déclencheur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80160" y="2788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reçu · RDV à J-2 · Tâche en retard · Charge &gt;8h...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8952" y="3227832"/>
            <a:ext cx="402336" cy="402336"/>
          </a:xfrm>
          <a:prstGeom prst="ellipse">
            <a:avLst/>
          </a:prstGeom>
          <a:solidFill>
            <a:srgbClr val="F8C7BF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" y="3227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EC7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10" dirty="0"/>
          </a:p>
        </p:txBody>
      </p:sp>
      <p:sp>
        <p:nvSpPr>
          <p:cNvPr id="15" name="Text 13"/>
          <p:cNvSpPr/>
          <p:nvPr/>
        </p:nvSpPr>
        <p:spPr>
          <a:xfrm>
            <a:off x="1280160" y="32278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35021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ligne, chiffrée : « 4 RDV clients cette semaine, charge 112 %. »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58952" y="3941064"/>
            <a:ext cx="402336" cy="402336"/>
          </a:xfrm>
          <a:prstGeom prst="ellipse">
            <a:avLst/>
          </a:prstGeom>
          <a:solidFill>
            <a:srgbClr val="F8C7BF"/>
          </a:solidFill>
          <a:ln/>
        </p:spPr>
      </p:sp>
      <p:sp>
        <p:nvSpPr>
          <p:cNvPr id="18" name="Text 16"/>
          <p:cNvSpPr/>
          <p:nvPr/>
        </p:nvSpPr>
        <p:spPr>
          <a:xfrm>
            <a:off x="758952" y="39410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EC7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10" dirty="0"/>
          </a:p>
        </p:txBody>
      </p:sp>
      <p:sp>
        <p:nvSpPr>
          <p:cNvPr id="19" name="Text 17"/>
          <p:cNvSpPr/>
          <p:nvPr/>
        </p:nvSpPr>
        <p:spPr>
          <a:xfrm>
            <a:off x="1280160" y="39410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80160" y="421538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action nette + option B si pertinent.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58952" y="4654296"/>
            <a:ext cx="402336" cy="402336"/>
          </a:xfrm>
          <a:prstGeom prst="ellipse">
            <a:avLst/>
          </a:prstGeom>
          <a:solidFill>
            <a:srgbClr val="F8C7BF"/>
          </a:solidFill>
          <a:ln/>
        </p:spPr>
      </p:sp>
      <p:sp>
        <p:nvSpPr>
          <p:cNvPr id="22" name="Text 20"/>
          <p:cNvSpPr/>
          <p:nvPr/>
        </p:nvSpPr>
        <p:spPr>
          <a:xfrm>
            <a:off x="758952" y="4654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EC7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10" dirty="0"/>
          </a:p>
        </p:txBody>
      </p:sp>
      <p:sp>
        <p:nvSpPr>
          <p:cNvPr id="23" name="Text 21"/>
          <p:cNvSpPr/>
          <p:nvPr/>
        </p:nvSpPr>
        <p:spPr>
          <a:xfrm>
            <a:off x="1280160" y="46542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estimé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80160" y="492861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épargné, risque évité, stress réduit.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58952" y="5367528"/>
            <a:ext cx="402336" cy="402336"/>
          </a:xfrm>
          <a:prstGeom prst="ellipse">
            <a:avLst/>
          </a:prstGeom>
          <a:solidFill>
            <a:srgbClr val="F8C7BF"/>
          </a:solidFill>
          <a:ln/>
        </p:spPr>
      </p:sp>
      <p:sp>
        <p:nvSpPr>
          <p:cNvPr id="26" name="Text 24"/>
          <p:cNvSpPr/>
          <p:nvPr/>
        </p:nvSpPr>
        <p:spPr>
          <a:xfrm>
            <a:off x="758952" y="5367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EC7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10" dirty="0"/>
          </a:p>
        </p:txBody>
      </p:sp>
      <p:sp>
        <p:nvSpPr>
          <p:cNvPr id="27" name="Text 25"/>
          <p:cNvSpPr/>
          <p:nvPr/>
        </p:nvSpPr>
        <p:spPr>
          <a:xfrm>
            <a:off x="1280160" y="5367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boutons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80160" y="56418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Accepter · Ajuster · Ignorer (toujours dans le même ordre).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1828800"/>
            <a:ext cx="5532120" cy="4389120"/>
          </a:xfrm>
          <a:prstGeom prst="roundRect">
            <a:avLst>
              <a:gd name="adj" fmla="val 2917"/>
            </a:avLst>
          </a:prstGeom>
          <a:solidFill>
            <a:srgbClr val="D7CBEF"/>
          </a:solidFill>
          <a:ln/>
          <a:effectLst>
            <a:outerShdw sx="100000" sy="100000" kx="0" ky="0" algn="bl" rotWithShape="0" blurRad="127000" dist="38100" dir="7200000">
              <a:srgbClr val="1C1A22">
                <a:alpha val="9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46520" y="20116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familles de propositions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6446520" y="2560320"/>
            <a:ext cx="24231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6537960" y="2715768"/>
            <a:ext cx="457200" cy="457200"/>
          </a:xfrm>
          <a:prstGeom prst="ellipse">
            <a:avLst/>
          </a:prstGeom>
          <a:solidFill>
            <a:srgbClr val="D7CBEF"/>
          </a:solidFill>
          <a:ln/>
        </p:spPr>
      </p:sp>
      <p:sp>
        <p:nvSpPr>
          <p:cNvPr id="33" name="Text 31"/>
          <p:cNvSpPr/>
          <p:nvPr/>
        </p:nvSpPr>
        <p:spPr>
          <a:xfrm>
            <a:off x="653796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75" b="1" dirty="0">
                <a:solidFill>
                  <a:srgbClr val="6B4B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375" dirty="0"/>
          </a:p>
        </p:txBody>
      </p:sp>
      <p:sp>
        <p:nvSpPr>
          <p:cNvPr id="34" name="Text 32"/>
          <p:cNvSpPr/>
          <p:nvPr/>
        </p:nvSpPr>
        <p:spPr>
          <a:xfrm>
            <a:off x="7086600" y="26517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Brouillon mail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086600" y="29718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4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faible→moyenne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006840" y="2560320"/>
            <a:ext cx="24231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9098280" y="2715768"/>
            <a:ext cx="457200" cy="457200"/>
          </a:xfrm>
          <a:prstGeom prst="ellipse">
            <a:avLst/>
          </a:prstGeom>
          <a:solidFill>
            <a:srgbClr val="D7CBEF"/>
          </a:solidFill>
          <a:ln/>
        </p:spPr>
      </p:sp>
      <p:sp>
        <p:nvSpPr>
          <p:cNvPr id="38" name="Text 36"/>
          <p:cNvSpPr/>
          <p:nvPr/>
        </p:nvSpPr>
        <p:spPr>
          <a:xfrm>
            <a:off x="909828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75" b="1" dirty="0">
                <a:solidFill>
                  <a:srgbClr val="6B4B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375" dirty="0"/>
          </a:p>
        </p:txBody>
      </p:sp>
      <p:sp>
        <p:nvSpPr>
          <p:cNvPr id="39" name="Text 37"/>
          <p:cNvSpPr/>
          <p:nvPr/>
        </p:nvSpPr>
        <p:spPr>
          <a:xfrm>
            <a:off x="9646920" y="26517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 réunion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9646920" y="29718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4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446520" y="3474720"/>
            <a:ext cx="24231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sp>
        <p:nvSpPr>
          <p:cNvPr id="42" name="Shape 40"/>
          <p:cNvSpPr/>
          <p:nvPr/>
        </p:nvSpPr>
        <p:spPr>
          <a:xfrm>
            <a:off x="6537960" y="3630168"/>
            <a:ext cx="457200" cy="457200"/>
          </a:xfrm>
          <a:prstGeom prst="ellipse">
            <a:avLst/>
          </a:prstGeom>
          <a:solidFill>
            <a:srgbClr val="D7CBEF"/>
          </a:solidFill>
          <a:ln/>
        </p:spPr>
      </p:sp>
      <p:sp>
        <p:nvSpPr>
          <p:cNvPr id="43" name="Text 41"/>
          <p:cNvSpPr/>
          <p:nvPr/>
        </p:nvSpPr>
        <p:spPr>
          <a:xfrm>
            <a:off x="6537960" y="3630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75" b="1" dirty="0">
                <a:solidFill>
                  <a:srgbClr val="6B4B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1375" dirty="0"/>
          </a:p>
        </p:txBody>
      </p:sp>
      <p:sp>
        <p:nvSpPr>
          <p:cNvPr id="44" name="Text 42"/>
          <p:cNvSpPr/>
          <p:nvPr/>
        </p:nvSpPr>
        <p:spPr>
          <a:xfrm>
            <a:off x="7086600" y="35661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 ex-RDV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7086600" y="38862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4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9006840" y="3474720"/>
            <a:ext cx="24231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sp>
        <p:nvSpPr>
          <p:cNvPr id="47" name="Shape 45"/>
          <p:cNvSpPr/>
          <p:nvPr/>
        </p:nvSpPr>
        <p:spPr>
          <a:xfrm>
            <a:off x="9098280" y="3630168"/>
            <a:ext cx="457200" cy="457200"/>
          </a:xfrm>
          <a:prstGeom prst="ellipse">
            <a:avLst/>
          </a:prstGeom>
          <a:solidFill>
            <a:srgbClr val="D7CBEF"/>
          </a:solidFill>
          <a:ln/>
        </p:spPr>
      </p:sp>
      <p:sp>
        <p:nvSpPr>
          <p:cNvPr id="48" name="Text 46"/>
          <p:cNvSpPr/>
          <p:nvPr/>
        </p:nvSpPr>
        <p:spPr>
          <a:xfrm>
            <a:off x="9098280" y="3630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75" b="1" dirty="0">
                <a:solidFill>
                  <a:srgbClr val="6B4B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375" dirty="0"/>
          </a:p>
        </p:txBody>
      </p:sp>
      <p:sp>
        <p:nvSpPr>
          <p:cNvPr id="49" name="Text 47"/>
          <p:cNvSpPr/>
          <p:nvPr/>
        </p:nvSpPr>
        <p:spPr>
          <a:xfrm>
            <a:off x="9646920" y="35661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Rééquilibrage charge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9646920" y="38862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4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moyenne→forte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446520" y="4389120"/>
            <a:ext cx="24231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sp>
        <p:nvSpPr>
          <p:cNvPr id="52" name="Shape 50"/>
          <p:cNvSpPr/>
          <p:nvPr/>
        </p:nvSpPr>
        <p:spPr>
          <a:xfrm>
            <a:off x="6537960" y="4544568"/>
            <a:ext cx="457200" cy="457200"/>
          </a:xfrm>
          <a:prstGeom prst="ellipse">
            <a:avLst/>
          </a:prstGeom>
          <a:solidFill>
            <a:srgbClr val="D7CBEF"/>
          </a:solidFill>
          <a:ln/>
        </p:spPr>
      </p:sp>
      <p:sp>
        <p:nvSpPr>
          <p:cNvPr id="53" name="Text 51"/>
          <p:cNvSpPr/>
          <p:nvPr/>
        </p:nvSpPr>
        <p:spPr>
          <a:xfrm>
            <a:off x="6537960" y="4544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75" b="1" dirty="0">
                <a:solidFill>
                  <a:srgbClr val="6B4B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375" dirty="0"/>
          </a:p>
        </p:txBody>
      </p:sp>
      <p:sp>
        <p:nvSpPr>
          <p:cNvPr id="54" name="Text 52"/>
          <p:cNvSpPr/>
          <p:nvPr/>
        </p:nvSpPr>
        <p:spPr>
          <a:xfrm>
            <a:off x="7086600" y="44805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Délégation nudge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7086600" y="48006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4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9006840" y="4389120"/>
            <a:ext cx="24231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sp>
        <p:nvSpPr>
          <p:cNvPr id="57" name="Shape 55"/>
          <p:cNvSpPr/>
          <p:nvPr/>
        </p:nvSpPr>
        <p:spPr>
          <a:xfrm>
            <a:off x="9098280" y="4544568"/>
            <a:ext cx="457200" cy="457200"/>
          </a:xfrm>
          <a:prstGeom prst="ellipse">
            <a:avLst/>
          </a:prstGeom>
          <a:solidFill>
            <a:srgbClr val="D7CBEF"/>
          </a:solidFill>
          <a:ln/>
        </p:spPr>
      </p:sp>
      <p:sp>
        <p:nvSpPr>
          <p:cNvPr id="58" name="Text 56"/>
          <p:cNvSpPr/>
          <p:nvPr/>
        </p:nvSpPr>
        <p:spPr>
          <a:xfrm>
            <a:off x="9098280" y="4544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75" b="1" dirty="0">
                <a:solidFill>
                  <a:srgbClr val="6B4B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375" dirty="0"/>
          </a:p>
        </p:txBody>
      </p:sp>
      <p:sp>
        <p:nvSpPr>
          <p:cNvPr id="59" name="Text 57"/>
          <p:cNvSpPr/>
          <p:nvPr/>
        </p:nvSpPr>
        <p:spPr>
          <a:xfrm>
            <a:off x="9646920" y="44805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Relance stale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9646920" y="48006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4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446520" y="5303520"/>
            <a:ext cx="24231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sp>
        <p:nvSpPr>
          <p:cNvPr id="62" name="Shape 60"/>
          <p:cNvSpPr/>
          <p:nvPr/>
        </p:nvSpPr>
        <p:spPr>
          <a:xfrm>
            <a:off x="6537960" y="5458968"/>
            <a:ext cx="457200" cy="457200"/>
          </a:xfrm>
          <a:prstGeom prst="ellipse">
            <a:avLst/>
          </a:prstGeom>
          <a:solidFill>
            <a:srgbClr val="D7CBEF"/>
          </a:solidFill>
          <a:ln/>
        </p:spPr>
      </p:sp>
      <p:sp>
        <p:nvSpPr>
          <p:cNvPr id="63" name="Text 61"/>
          <p:cNvSpPr/>
          <p:nvPr/>
        </p:nvSpPr>
        <p:spPr>
          <a:xfrm>
            <a:off x="6537960" y="5458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75" b="1" dirty="0">
                <a:solidFill>
                  <a:srgbClr val="6B4B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375" dirty="0"/>
          </a:p>
        </p:txBody>
      </p:sp>
      <p:sp>
        <p:nvSpPr>
          <p:cNvPr id="64" name="Text 62"/>
          <p:cNvSpPr/>
          <p:nvPr/>
        </p:nvSpPr>
        <p:spPr>
          <a:xfrm>
            <a:off x="7086600" y="53949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</a:t>
            </a:r>
            <a:endParaRPr lang="en-US" sz="1150" dirty="0"/>
          </a:p>
        </p:txBody>
      </p:sp>
      <p:sp>
        <p:nvSpPr>
          <p:cNvPr id="65" name="Text 63"/>
          <p:cNvSpPr/>
          <p:nvPr/>
        </p:nvSpPr>
        <p:spPr>
          <a:xfrm>
            <a:off x="7086600" y="57150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4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9006840" y="5303520"/>
            <a:ext cx="24231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sp>
        <p:nvSpPr>
          <p:cNvPr id="67" name="Shape 65"/>
          <p:cNvSpPr/>
          <p:nvPr/>
        </p:nvSpPr>
        <p:spPr>
          <a:xfrm>
            <a:off x="9098280" y="5458968"/>
            <a:ext cx="457200" cy="457200"/>
          </a:xfrm>
          <a:prstGeom prst="ellipse">
            <a:avLst/>
          </a:prstGeom>
          <a:solidFill>
            <a:srgbClr val="D7CBEF"/>
          </a:solidFill>
          <a:ln/>
        </p:spPr>
      </p:sp>
      <p:sp>
        <p:nvSpPr>
          <p:cNvPr id="68" name="Text 66"/>
          <p:cNvSpPr/>
          <p:nvPr/>
        </p:nvSpPr>
        <p:spPr>
          <a:xfrm>
            <a:off x="9098280" y="5458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75" b="1" dirty="0">
                <a:solidFill>
                  <a:srgbClr val="6B4B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375" dirty="0"/>
          </a:p>
        </p:txBody>
      </p:sp>
      <p:sp>
        <p:nvSpPr>
          <p:cNvPr id="69" name="Text 67"/>
          <p:cNvSpPr/>
          <p:nvPr/>
        </p:nvSpPr>
        <p:spPr>
          <a:xfrm>
            <a:off x="9646920" y="53949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transverse</a:t>
            </a:r>
            <a:endParaRPr lang="en-US" sz="1150" dirty="0"/>
          </a:p>
        </p:txBody>
      </p:sp>
      <p:sp>
        <p:nvSpPr>
          <p:cNvPr id="70" name="Text 68"/>
          <p:cNvSpPr/>
          <p:nvPr/>
        </p:nvSpPr>
        <p:spPr>
          <a:xfrm>
            <a:off x="9646920" y="57150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4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très forte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A62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PROPOSITION EN VRAI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201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exemple, de bout en bout.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une proposition naît, vit, et s'apprend.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2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 · Dossier exécutif · Avril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199632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2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Copilote · pour Feycoil Mouhoussoune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965960"/>
            <a:ext cx="2221992" cy="2194560"/>
          </a:xfrm>
          <a:prstGeom prst="roundRect">
            <a:avLst>
              <a:gd name="adj" fmla="val 5833"/>
            </a:avLst>
          </a:prstGeom>
          <a:solidFill>
            <a:srgbClr val="CFE2EF"/>
          </a:solidFill>
          <a:ln/>
          <a:effectLst>
            <a:outerShdw sx="100000" sy="100000" kx="0" ky="0" algn="bl" rotWithShape="0" blurRad="127000" dist="38100" dir="7200000">
              <a:srgbClr val="1C1A22">
                <a:alpha val="9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1488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A35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2606040"/>
            <a:ext cx="1856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Capté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85800" y="3063240"/>
            <a:ext cx="18562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Banque Populaire · 07:12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88920" y="1965960"/>
            <a:ext cx="2221992" cy="2194560"/>
          </a:xfrm>
          <a:prstGeom prst="roundRect">
            <a:avLst>
              <a:gd name="adj" fmla="val 5833"/>
            </a:avLst>
          </a:prstGeom>
          <a:solidFill>
            <a:srgbClr val="F1DFB2"/>
          </a:solidFill>
          <a:ln/>
          <a:effectLst>
            <a:outerShdw sx="100000" sy="100000" kx="0" ky="0" algn="bl" rotWithShape="0" blurRad="127000" dist="38100" dir="7200000">
              <a:srgbClr val="1C1A22">
                <a:alpha val="9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971800" y="21488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A35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971800" y="2606040"/>
            <a:ext cx="1856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Diagnostiqué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971800" y="3063240"/>
            <a:ext cx="18562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Relance prêt AMANI · M-2 silence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74920" y="1965960"/>
            <a:ext cx="2221992" cy="2194560"/>
          </a:xfrm>
          <a:prstGeom prst="roundRect">
            <a:avLst>
              <a:gd name="adj" fmla="val 5833"/>
            </a:avLst>
          </a:prstGeom>
          <a:solidFill>
            <a:srgbClr val="F8C7BF"/>
          </a:solidFill>
          <a:ln/>
          <a:effectLst>
            <a:outerShdw sx="100000" sy="100000" kx="0" ky="0" algn="bl" rotWithShape="0" blurRad="127000" dist="38100" dir="7200000">
              <a:srgbClr val="1C1A22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257800" y="21488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A35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57800" y="2606040"/>
            <a:ext cx="1856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Proposé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257800" y="3063240"/>
            <a:ext cx="18562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Brouillon de réponse · 90 s de votre temps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60920" y="1965960"/>
            <a:ext cx="2221992" cy="2194560"/>
          </a:xfrm>
          <a:prstGeom prst="roundRect">
            <a:avLst>
              <a:gd name="adj" fmla="val 5833"/>
            </a:avLst>
          </a:prstGeom>
          <a:solidFill>
            <a:srgbClr val="D7CBEF"/>
          </a:solidFill>
          <a:ln/>
          <a:effectLst>
            <a:outerShdw sx="100000" sy="100000" kx="0" ky="0" algn="bl" rotWithShape="0" blurRad="127000" dist="38100" dir="7200000">
              <a:srgbClr val="1C1A22">
                <a:alpha val="9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543800" y="21488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A35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543800" y="2606040"/>
            <a:ext cx="1856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Arbitré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543800" y="3063240"/>
            <a:ext cx="18562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ajustez le montant + ton · 32 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646920" y="1965960"/>
            <a:ext cx="2221992" cy="2194560"/>
          </a:xfrm>
          <a:prstGeom prst="roundRect">
            <a:avLst>
              <a:gd name="adj" fmla="val 5833"/>
            </a:avLst>
          </a:prstGeom>
          <a:solidFill>
            <a:srgbClr val="D9E8D6"/>
          </a:solidFill>
          <a:ln/>
          <a:effectLst>
            <a:outerShdw sx="100000" sy="100000" kx="0" ky="0" algn="bl" rotWithShape="0" blurRad="127000" dist="38100" dir="7200000">
              <a:srgbClr val="1C1A22">
                <a:alpha val="9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829800" y="21488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A35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829800" y="2606040"/>
            <a:ext cx="1856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Appris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829800" y="3063240"/>
            <a:ext cx="18562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Montant +10k, ton concis » sauvé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" y="4480560"/>
            <a:ext cx="11247120" cy="1508760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7200000">
              <a:srgbClr val="1C1A22">
                <a:alpha val="9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31520" y="4617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4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1520" y="49377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perçu : </a:t>
            </a:r>
            <a:pPr indent="0" marL="0">
              <a:buNone/>
            </a:pPr>
            <a:r>
              <a:rPr lang="en-US" sz="1300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minutes. </a:t>
            </a:r>
            <a:pPr indent="0" marL="0">
              <a:buNone/>
            </a:pPr>
            <a:r>
              <a:rPr lang="en-US" sz="1300" b="1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réel gagné : </a:t>
            </a:r>
            <a:pPr indent="0" marL="0">
              <a:buNone/>
            </a:pPr>
            <a:r>
              <a:rPr lang="en-US" sz="1300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minutes. </a:t>
            </a:r>
            <a:pPr indent="0" marL="0">
              <a:buNone/>
            </a:pPr>
            <a:r>
              <a:rPr lang="en-US" sz="1300" b="1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Apprentissage : </a:t>
            </a:r>
            <a:pPr indent="0" marL="0">
              <a:buNone/>
            </a:pPr>
            <a:r>
              <a:rPr lang="en-US" sz="1300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copilote propose désormais +10k par défaut pour ce correspondant — sans le demander.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A62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PENSÉE VISUELLE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201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nœud, six vues.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Ctrl+1 à Ctrl+6. Vos tâches, vos projets, vos décisions — en liste, grille, arbre, graphe, canvas, timeline.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2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 · Dossier exécutif · Avril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199632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2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Copilote · pour Feycoil Mouhoussoune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937760" y="3566160"/>
            <a:ext cx="1097280" cy="1097280"/>
          </a:xfrm>
          <a:prstGeom prst="ellipse">
            <a:avLst/>
          </a:prstGeom>
          <a:solidFill>
            <a:srgbClr val="A895DB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35661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Amani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0" y="4114800"/>
            <a:ext cx="-1821355" cy="-841248"/>
          </a:xfrm>
          <a:prstGeom prst="line">
            <a:avLst/>
          </a:prstGeom>
          <a:noFill/>
          <a:ln w="15240">
            <a:solidFill>
              <a:srgbClr val="D9CFBC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796365" y="2839212"/>
            <a:ext cx="1737360" cy="868680"/>
          </a:xfrm>
          <a:prstGeom prst="roundRect">
            <a:avLst>
              <a:gd name="adj" fmla="val 14737"/>
            </a:avLst>
          </a:prstGeom>
          <a:solidFill>
            <a:srgbClr val="F8C7BF"/>
          </a:solidFill>
          <a:ln/>
          <a:effectLst>
            <a:outerShdw sx="100000" sy="100000" kx="0" ky="0" algn="bl" rotWithShape="0" blurRad="127000" dist="38100" dir="7200000">
              <a:srgbClr val="1C1A22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887805" y="304495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2887805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75" b="1" dirty="0">
                <a:solidFill>
                  <a:srgbClr val="EC7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1375" dirty="0"/>
          </a:p>
        </p:txBody>
      </p:sp>
      <p:sp>
        <p:nvSpPr>
          <p:cNvPr id="13" name="Text 11"/>
          <p:cNvSpPr/>
          <p:nvPr/>
        </p:nvSpPr>
        <p:spPr>
          <a:xfrm>
            <a:off x="3436445" y="306781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0" y="4114800"/>
            <a:ext cx="0" cy="-1682496"/>
          </a:xfrm>
          <a:prstGeom prst="line">
            <a:avLst/>
          </a:prstGeom>
          <a:noFill/>
          <a:ln w="15240">
            <a:solidFill>
              <a:srgbClr val="D9CFBC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4617720" y="1997964"/>
            <a:ext cx="1737360" cy="868680"/>
          </a:xfrm>
          <a:prstGeom prst="roundRect">
            <a:avLst>
              <a:gd name="adj" fmla="val 14737"/>
            </a:avLst>
          </a:prstGeom>
          <a:solidFill>
            <a:srgbClr val="D9E8D6"/>
          </a:solidFill>
          <a:ln/>
          <a:effectLst>
            <a:outerShdw sx="100000" sy="100000" kx="0" ky="0" algn="bl" rotWithShape="0" blurRad="127000" dist="38100" dir="7200000">
              <a:srgbClr val="1C1A22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20370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709160" y="2203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75" b="1" dirty="0">
                <a:solidFill>
                  <a:srgbClr val="3E6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375" dirty="0"/>
          </a:p>
        </p:txBody>
      </p:sp>
      <p:sp>
        <p:nvSpPr>
          <p:cNvPr id="18" name="Text 16"/>
          <p:cNvSpPr/>
          <p:nvPr/>
        </p:nvSpPr>
        <p:spPr>
          <a:xfrm>
            <a:off x="5257800" y="2226564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Grille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0" y="4114800"/>
            <a:ext cx="1821355" cy="-841248"/>
          </a:xfrm>
          <a:prstGeom prst="line">
            <a:avLst/>
          </a:prstGeom>
          <a:noFill/>
          <a:ln w="15240">
            <a:solidFill>
              <a:srgbClr val="D9CFBC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6439075" y="2839212"/>
            <a:ext cx="1737360" cy="868680"/>
          </a:xfrm>
          <a:prstGeom prst="roundRect">
            <a:avLst>
              <a:gd name="adj" fmla="val 14737"/>
            </a:avLst>
          </a:prstGeom>
          <a:solidFill>
            <a:srgbClr val="F1DFB2"/>
          </a:solidFill>
          <a:ln/>
          <a:effectLst>
            <a:outerShdw sx="100000" sy="100000" kx="0" ky="0" algn="bl" rotWithShape="0" blurRad="127000" dist="38100" dir="7200000">
              <a:srgbClr val="1C1A22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30515" y="304495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6530515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75" b="1" dirty="0">
                <a:solidFill>
                  <a:srgbClr val="E0B2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375" dirty="0"/>
          </a:p>
        </p:txBody>
      </p:sp>
      <p:sp>
        <p:nvSpPr>
          <p:cNvPr id="23" name="Text 21"/>
          <p:cNvSpPr/>
          <p:nvPr/>
        </p:nvSpPr>
        <p:spPr>
          <a:xfrm>
            <a:off x="7079155" y="306781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Arbre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0" y="4114800"/>
            <a:ext cx="1821355" cy="841248"/>
          </a:xfrm>
          <a:prstGeom prst="line">
            <a:avLst/>
          </a:prstGeom>
          <a:noFill/>
          <a:ln w="15240">
            <a:solidFill>
              <a:srgbClr val="D9CFBC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6439075" y="4521708"/>
            <a:ext cx="1737360" cy="868680"/>
          </a:xfrm>
          <a:prstGeom prst="roundRect">
            <a:avLst>
              <a:gd name="adj" fmla="val 14737"/>
            </a:avLst>
          </a:prstGeom>
          <a:solidFill>
            <a:srgbClr val="CFE2EF"/>
          </a:solidFill>
          <a:ln/>
          <a:effectLst>
            <a:outerShdw sx="100000" sy="100000" kx="0" ky="0" algn="bl" rotWithShape="0" blurRad="127000" dist="38100" dir="7200000">
              <a:srgbClr val="1C1A22">
                <a:alpha val="9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530515" y="472744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6530515" y="4727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75" b="1" dirty="0">
                <a:solidFill>
                  <a:srgbClr val="7FB5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375" dirty="0"/>
          </a:p>
        </p:txBody>
      </p:sp>
      <p:sp>
        <p:nvSpPr>
          <p:cNvPr id="28" name="Text 26"/>
          <p:cNvSpPr/>
          <p:nvPr/>
        </p:nvSpPr>
        <p:spPr>
          <a:xfrm>
            <a:off x="7079155" y="475030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0" y="4114800"/>
            <a:ext cx="0" cy="1682496"/>
          </a:xfrm>
          <a:prstGeom prst="line">
            <a:avLst/>
          </a:prstGeom>
          <a:noFill/>
          <a:ln w="15240">
            <a:solidFill>
              <a:srgbClr val="D9CFBC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4617720" y="5362956"/>
            <a:ext cx="1737360" cy="868680"/>
          </a:xfrm>
          <a:prstGeom prst="roundRect">
            <a:avLst>
              <a:gd name="adj" fmla="val 14737"/>
            </a:avLst>
          </a:prstGeom>
          <a:solidFill>
            <a:srgbClr val="D7CBEF"/>
          </a:solidFill>
          <a:ln/>
          <a:effectLst>
            <a:outerShdw sx="100000" sy="100000" kx="0" ky="0" algn="bl" rotWithShape="0" blurRad="127000" dist="38100" dir="7200000">
              <a:srgbClr val="1C1A22">
                <a:alpha val="9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556869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4709160" y="5568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75" b="1" dirty="0">
                <a:solidFill>
                  <a:srgbClr val="6B4B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375" dirty="0"/>
          </a:p>
        </p:txBody>
      </p:sp>
      <p:sp>
        <p:nvSpPr>
          <p:cNvPr id="33" name="Text 31"/>
          <p:cNvSpPr/>
          <p:nvPr/>
        </p:nvSpPr>
        <p:spPr>
          <a:xfrm>
            <a:off x="5257800" y="5591556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Canvas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486400" y="4114800"/>
            <a:ext cx="-1821355" cy="841248"/>
          </a:xfrm>
          <a:prstGeom prst="line">
            <a:avLst/>
          </a:prstGeom>
          <a:noFill/>
          <a:ln w="15240">
            <a:solidFill>
              <a:srgbClr val="D9CFBC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2796365" y="4521708"/>
            <a:ext cx="1737360" cy="868680"/>
          </a:xfrm>
          <a:prstGeom prst="roundRect">
            <a:avLst>
              <a:gd name="adj" fmla="val 14737"/>
            </a:avLst>
          </a:prstGeom>
          <a:solidFill>
            <a:srgbClr val="F2EBDD"/>
          </a:solidFill>
          <a:ln/>
          <a:effectLst>
            <a:outerShdw sx="100000" sy="100000" kx="0" ky="0" algn="bl" rotWithShape="0" blurRad="127000" dist="38100" dir="7200000">
              <a:srgbClr val="1C1A22">
                <a:alpha val="9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887805" y="472744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2887805" y="4727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75" b="1" dirty="0">
                <a:solidFill>
                  <a:srgbClr val="3A35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1375" dirty="0"/>
          </a:p>
        </p:txBody>
      </p:sp>
      <p:sp>
        <p:nvSpPr>
          <p:cNvPr id="38" name="Text 36"/>
          <p:cNvSpPr/>
          <p:nvPr/>
        </p:nvSpPr>
        <p:spPr>
          <a:xfrm>
            <a:off x="3436445" y="475030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9052560" y="1874520"/>
            <a:ext cx="2743200" cy="429768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7200000">
              <a:srgbClr val="1C1A22">
                <a:alpha val="9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9235440" y="2011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C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?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235440" y="2331720"/>
            <a:ext cx="23774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CEO est un visual thinker.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liste pense en linéaire.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graphe pense en réseau.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L'arbre pense en hiérarchie.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timeline pense en flux.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i="1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projet n'a pas une forme — il en a plusieurs. aiCEO les donne toutes, sans dupliquer la donnée.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A62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TEXTE → VISUEL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201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Napkin-pattern, natif.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Sélectionnez une liste. Le copilote propose 4 mises en forme visuelles. Un clic suffit.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2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 · Dossier exécutif · Avril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199632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2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Copilote · pour Feycoil Mouhoussoune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4937760" cy="438912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7200000">
              <a:srgbClr val="1C1A22">
                <a:alpha val="9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965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4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tapez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4572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3A3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Priorités Q2 :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A3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A3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Mission Mayotte 27–29 avril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A3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Comité stratégique Adabu 30/04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A3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POC Data Center — go/no-go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A3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Dossiers juridiques (SCI Start + Lloyds)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A3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Recrutement directeur ops Amani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0" y="1828800"/>
            <a:ext cx="3017520" cy="2057400"/>
          </a:xfrm>
          <a:prstGeom prst="roundRect">
            <a:avLst>
              <a:gd name="adj" fmla="val 6222"/>
            </a:avLst>
          </a:prstGeom>
          <a:solidFill>
            <a:srgbClr val="D7CBEF"/>
          </a:solidFill>
          <a:ln/>
          <a:effectLst>
            <a:outerShdw sx="100000" sy="100000" kx="0" ky="0" algn="bl" rotWithShape="0" blurRad="127000" dist="38100" dir="7200000">
              <a:srgbClr val="1C1A22">
                <a:alpha val="9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852160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4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852160" y="2240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Arbre priorités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852160" y="27432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/ comité / POC en branches, sous-tâches attachées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823960" y="1828800"/>
            <a:ext cx="3017520" cy="2057400"/>
          </a:xfrm>
          <a:prstGeom prst="roundRect">
            <a:avLst>
              <a:gd name="adj" fmla="val 6222"/>
            </a:avLst>
          </a:prstGeom>
          <a:solidFill>
            <a:srgbClr val="F8C7BF"/>
          </a:solidFill>
          <a:ln/>
          <a:effectLst>
            <a:outerShdw sx="100000" sy="100000" kx="0" ky="0" algn="bl" rotWithShape="0" blurRad="127000" dist="38100" dir="7200000">
              <a:srgbClr val="1C1A22">
                <a:alpha val="9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006840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C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006840" y="2240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 S17→S18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006840" y="27432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jalons sur une bande horizontale, avec dépendances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0" y="4023360"/>
            <a:ext cx="3017520" cy="2057400"/>
          </a:xfrm>
          <a:prstGeom prst="roundRect">
            <a:avLst>
              <a:gd name="adj" fmla="val 6222"/>
            </a:avLst>
          </a:prstGeom>
          <a:solidFill>
            <a:srgbClr val="D9E8D6"/>
          </a:solidFill>
          <a:ln/>
          <a:effectLst>
            <a:outerShdw sx="100000" sy="100000" kx="0" ky="0" algn="bl" rotWithShape="0" blurRad="127000" dist="38100" dir="7200000">
              <a:srgbClr val="1C1A22">
                <a:alpha val="9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85216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E6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852160" y="44348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Matrice urgence×impact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852160" y="493776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5 items plotés, aide à l'arbitrage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823960" y="4023360"/>
            <a:ext cx="3017520" cy="2057400"/>
          </a:xfrm>
          <a:prstGeom prst="roundRect">
            <a:avLst>
              <a:gd name="adj" fmla="val 6222"/>
            </a:avLst>
          </a:prstGeom>
          <a:solidFill>
            <a:srgbClr val="F1DFB2"/>
          </a:solidFill>
          <a:ln/>
          <a:effectLst>
            <a:outerShdw sx="100000" sy="100000" kx="0" ky="0" algn="bl" rotWithShape="0" blurRad="127000" dist="38100" dir="7200000">
              <a:srgbClr val="1C1A22">
                <a:alpha val="9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00684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0B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006840" y="44348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Kanban statuts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006840" y="493776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faire · En cours · En attente · Soldé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61722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C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friction. Le dirigeant pense en texte et voit en graphe — sans quitter l'écran.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A62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COACHING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201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NON bienveillant, le streak du repos.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copilote protège votre énergie autant que votre output.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2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 · Dossier exécutif · Avril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199632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2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Copilote · pour Feycoil Mouhoussoune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3712464" cy="2834640"/>
          </a:xfrm>
          <a:prstGeom prst="roundRect">
            <a:avLst>
              <a:gd name="adj" fmla="val 4516"/>
            </a:avLst>
          </a:prstGeom>
          <a:solidFill>
            <a:srgbClr val="D9E8D6"/>
          </a:solidFill>
          <a:ln/>
          <a:effectLst>
            <a:outerShdw sx="100000" sy="100000" kx="0" ky="0" algn="bl" rotWithShape="0" blurRad="127000" dist="38100" dir="7200000">
              <a:srgbClr val="1C1A22">
                <a:alpha val="9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103120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Rituels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2560320"/>
            <a:ext cx="3163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3E6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Matin · Soir · Dimanche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926080"/>
            <a:ext cx="31638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 matin (intention+humeur+top 3) · 3 min soir (shutdown) · 15 min dimanche (revue+cap).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79976" y="1828800"/>
            <a:ext cx="3712464" cy="2834640"/>
          </a:xfrm>
          <a:prstGeom prst="roundRect">
            <a:avLst>
              <a:gd name="adj" fmla="val 4516"/>
            </a:avLst>
          </a:prstGeom>
          <a:solidFill>
            <a:srgbClr val="F8C7BF"/>
          </a:solidFill>
          <a:ln/>
          <a:effectLst>
            <a:outerShdw sx="100000" sy="100000" kx="0" ky="0" algn="bl" rotWithShape="0" blurRad="127000" dist="38100" dir="7200000">
              <a:srgbClr val="1C1A22">
                <a:alpha val="9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54296" y="2103120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 bienveillant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54296" y="2560320"/>
            <a:ext cx="3163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EC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copilote refuse parfois pour vous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54296" y="2926080"/>
            <a:ext cx="31638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Dépasser 9h de RDV/jour ? Ajouter 6 tâches un vendredi ? Le copilote ne se contente pas d'ajouter — il négocie.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57032" y="1828800"/>
            <a:ext cx="3712464" cy="2834640"/>
          </a:xfrm>
          <a:prstGeom prst="roundRect">
            <a:avLst>
              <a:gd name="adj" fmla="val 4516"/>
            </a:avLst>
          </a:prstGeom>
          <a:solidFill>
            <a:srgbClr val="F1DFB2"/>
          </a:solidFill>
          <a:ln/>
          <a:effectLst>
            <a:outerShdw sx="100000" sy="100000" kx="0" ky="0" algn="bl" rotWithShape="0" blurRad="127000" dist="38100" dir="7200000">
              <a:srgbClr val="1C1A22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531352" y="2103120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Streak inversé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531352" y="2560320"/>
            <a:ext cx="3163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E0B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récompense le repos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531352" y="2926080"/>
            <a:ext cx="31638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jours sans RDV de &gt;60 min après 18h = 1 badge. Déconnexion weekend = 2 badges. La discipline ici, c'est se calmer.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4800600"/>
            <a:ext cx="11247120" cy="1417320"/>
          </a:xfrm>
          <a:prstGeom prst="roundRect">
            <a:avLst>
              <a:gd name="adj" fmla="val 9032"/>
            </a:avLst>
          </a:prstGeom>
          <a:solidFill>
            <a:srgbClr val="D7CBEF"/>
          </a:solidFill>
          <a:ln/>
          <a:effectLst>
            <a:outerShdw sx="100000" sy="100000" kx="0" ky="0" algn="bl" rotWithShape="0" blurRad="127000" dist="38100" dir="7200000">
              <a:srgbClr val="1C1A22">
                <a:alpha val="9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" y="4937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4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" y="525780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Chief-of-staff senior. </a:t>
            </a:r>
            <a:pPr indent="0" marL="0">
              <a:buNone/>
            </a:pPr>
            <a:r>
              <a:rPr lang="en-US" sz="1350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</a:t>
            </a:r>
            <a:pPr indent="0" marL="0">
              <a:buNone/>
            </a:pPr>
            <a:r>
              <a:rPr lang="en-US" sz="1350" b="1" dirty="0">
                <a:solidFill>
                  <a:srgbClr val="EC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Bravo ! » </a:t>
            </a:r>
            <a:pPr indent="0" marL="0">
              <a:buNone/>
            </a:pPr>
            <a:r>
              <a:rPr lang="en-US" sz="1350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de </a:t>
            </a:r>
            <a:pPr indent="0" marL="0">
              <a:buNone/>
            </a:pPr>
            <a:r>
              <a:rPr lang="en-US" sz="1350" b="1" dirty="0">
                <a:solidFill>
                  <a:srgbClr val="EC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Allez champion ! ». </a:t>
            </a:r>
            <a:pPr indent="0" marL="0">
              <a:buNone/>
            </a:pPr>
            <a:r>
              <a:rPr lang="en-US" sz="1350" i="1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remarque de confrère, une phrase sobre, un choix offert. Empathie ferme, jamais familière.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A62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201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technique.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EU-only (ZDR), multi-provider, offline-first pour la partie locale, auditabilité bout-en-bout.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2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 · Dossier exécutif · Avril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199632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2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Copilote · pour Feycoil Mouhoussoune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11247120" cy="841248"/>
          </a:xfrm>
          <a:prstGeom prst="roundRect">
            <a:avLst>
              <a:gd name="adj" fmla="val 15217"/>
            </a:avLst>
          </a:prstGeom>
          <a:solidFill>
            <a:srgbClr val="F8C7BF"/>
          </a:solidFill>
          <a:ln/>
          <a:effectLst>
            <a:outerShdw sx="100000" sy="100000" kx="0" ky="0" algn="bl" rotWithShape="0" blurRad="127000" dist="38100" dir="7200000">
              <a:srgbClr val="1C1A22">
                <a:alpha val="9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0116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C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51760" y="1975104"/>
            <a:ext cx="2941320" cy="274320"/>
          </a:xfrm>
          <a:prstGeom prst="roundRect">
            <a:avLst>
              <a:gd name="adj" fmla="val 46667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2651760" y="1975104"/>
            <a:ext cx="294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SolidJS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38800" y="1975104"/>
            <a:ext cx="2941320" cy="274320"/>
          </a:xfrm>
          <a:prstGeom prst="roundRect">
            <a:avLst>
              <a:gd name="adj" fmla="val 46667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638800" y="1975104"/>
            <a:ext cx="294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v4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625840" y="1975104"/>
            <a:ext cx="2941320" cy="274320"/>
          </a:xfrm>
          <a:prstGeom prst="roundRect">
            <a:avLst>
              <a:gd name="adj" fmla="val 46667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8625840" y="1975104"/>
            <a:ext cx="294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shadcn-solid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651760" y="2286000"/>
            <a:ext cx="2941320" cy="274320"/>
          </a:xfrm>
          <a:prstGeom prst="roundRect">
            <a:avLst>
              <a:gd name="adj" fmla="val 46667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2651760" y="2286000"/>
            <a:ext cx="294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Cytoscape.js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38800" y="2286000"/>
            <a:ext cx="2941320" cy="274320"/>
          </a:xfrm>
          <a:prstGeom prst="roundRect">
            <a:avLst>
              <a:gd name="adj" fmla="val 46667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638800" y="2286000"/>
            <a:ext cx="294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tldraw SDK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625840" y="2286000"/>
            <a:ext cx="2941320" cy="274320"/>
          </a:xfrm>
          <a:prstGeom prst="roundRect">
            <a:avLst>
              <a:gd name="adj" fmla="val 46667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8625840" y="2286000"/>
            <a:ext cx="294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ElectricSQL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2761488"/>
            <a:ext cx="11247120" cy="841248"/>
          </a:xfrm>
          <a:prstGeom prst="roundRect">
            <a:avLst>
              <a:gd name="adj" fmla="val 15217"/>
            </a:avLst>
          </a:prstGeom>
          <a:solidFill>
            <a:srgbClr val="D7CBEF"/>
          </a:solidFill>
          <a:ln/>
          <a:effectLst>
            <a:outerShdw sx="100000" sy="100000" kx="0" ky="0" algn="bl" rotWithShape="0" blurRad="127000" dist="38100" dir="7200000">
              <a:srgbClr val="1C1A22">
                <a:alpha val="9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7240" y="29443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B4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651760" y="2907792"/>
            <a:ext cx="2941320" cy="274320"/>
          </a:xfrm>
          <a:prstGeom prst="roundRect">
            <a:avLst>
              <a:gd name="adj" fmla="val 46667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2651760" y="2907792"/>
            <a:ext cx="294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4.5 (Bedrock EU)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38800" y="2907792"/>
            <a:ext cx="2941320" cy="274320"/>
          </a:xfrm>
          <a:prstGeom prst="roundRect">
            <a:avLst>
              <a:gd name="adj" fmla="val 46667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638800" y="2907792"/>
            <a:ext cx="294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GPT-5-mini (Azure EU)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625840" y="2907792"/>
            <a:ext cx="2941320" cy="274320"/>
          </a:xfrm>
          <a:prstGeom prst="roundRect">
            <a:avLst>
              <a:gd name="adj" fmla="val 46667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8625840" y="2907792"/>
            <a:ext cx="294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(Vertex EU)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651760" y="3218688"/>
            <a:ext cx="2941320" cy="274320"/>
          </a:xfrm>
          <a:prstGeom prst="roundRect">
            <a:avLst>
              <a:gd name="adj" fmla="val 46667"/>
            </a:avLst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2651760" y="3218688"/>
            <a:ext cx="294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638800" y="3218688"/>
            <a:ext cx="2941320" cy="274320"/>
          </a:xfrm>
          <a:prstGeom prst="roundRect">
            <a:avLst>
              <a:gd name="adj" fmla="val 46667"/>
            </a:avLst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5638800" y="3218688"/>
            <a:ext cx="294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Agent SDK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625840" y="3218688"/>
            <a:ext cx="2941320" cy="274320"/>
          </a:xfrm>
          <a:prstGeom prst="roundRect">
            <a:avLst>
              <a:gd name="adj" fmla="val 46667"/>
            </a:avLst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8625840" y="3218688"/>
            <a:ext cx="294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Inngest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" y="3694176"/>
            <a:ext cx="11247120" cy="841248"/>
          </a:xfrm>
          <a:prstGeom prst="roundRect">
            <a:avLst>
              <a:gd name="adj" fmla="val 15217"/>
            </a:avLst>
          </a:prstGeom>
          <a:solidFill>
            <a:srgbClr val="D9E8D6"/>
          </a:solidFill>
          <a:ln/>
          <a:effectLst>
            <a:outerShdw sx="100000" sy="100000" kx="0" ky="0" algn="bl" rotWithShape="0" blurRad="127000" dist="38100" dir="7200000">
              <a:srgbClr val="1C1A22">
                <a:alpha val="9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77240" y="387705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3E6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651760" y="3840480"/>
            <a:ext cx="2941320" cy="274320"/>
          </a:xfrm>
          <a:prstGeom prst="roundRect">
            <a:avLst>
              <a:gd name="adj" fmla="val 46667"/>
            </a:avLst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2651760" y="3840480"/>
            <a:ext cx="294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+ pgvector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638800" y="3840480"/>
            <a:ext cx="2941320" cy="274320"/>
          </a:xfrm>
          <a:prstGeom prst="roundRect">
            <a:avLst>
              <a:gd name="adj" fmla="val 46667"/>
            </a:avLst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5638800" y="3840480"/>
            <a:ext cx="294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Voyage-3 embeddings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625840" y="3840480"/>
            <a:ext cx="2941320" cy="274320"/>
          </a:xfrm>
          <a:prstGeom prst="roundRect">
            <a:avLst>
              <a:gd name="adj" fmla="val 46667"/>
            </a:avLst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8625840" y="3840480"/>
            <a:ext cx="294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mem0 / Letta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651760" y="4151376"/>
            <a:ext cx="2941320" cy="274320"/>
          </a:xfrm>
          <a:prstGeom prst="roundRect">
            <a:avLst>
              <a:gd name="adj" fmla="val 46667"/>
            </a:avLst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2651760" y="4151376"/>
            <a:ext cx="294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SQLCipher client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638800" y="4151376"/>
            <a:ext cx="2941320" cy="274320"/>
          </a:xfrm>
          <a:prstGeom prst="roundRect">
            <a:avLst>
              <a:gd name="adj" fmla="val 46667"/>
            </a:avLst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5638800" y="4151376"/>
            <a:ext cx="294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8625840" y="4151376"/>
            <a:ext cx="2941320" cy="274320"/>
          </a:xfrm>
          <a:prstGeom prst="roundRect">
            <a:avLst>
              <a:gd name="adj" fmla="val 46667"/>
            </a:avLst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8625840" y="4151376"/>
            <a:ext cx="294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Presidio PII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02920" y="4626864"/>
            <a:ext cx="11247120" cy="841248"/>
          </a:xfrm>
          <a:prstGeom prst="roundRect">
            <a:avLst>
              <a:gd name="adj" fmla="val 15217"/>
            </a:avLst>
          </a:prstGeom>
          <a:solidFill>
            <a:srgbClr val="CFE2EF"/>
          </a:solidFill>
          <a:ln/>
          <a:effectLst>
            <a:outerShdw sx="100000" sy="100000" kx="0" ky="0" algn="bl" rotWithShape="0" blurRad="127000" dist="38100" dir="7200000">
              <a:srgbClr val="1C1A22">
                <a:alpha val="9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777240" y="480974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7FB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2651760" y="4773168"/>
            <a:ext cx="2941320" cy="274320"/>
          </a:xfrm>
          <a:prstGeom prst="roundRect">
            <a:avLst>
              <a:gd name="adj" fmla="val 46667"/>
            </a:avLst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2651760" y="4773168"/>
            <a:ext cx="294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Graph API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638800" y="4773168"/>
            <a:ext cx="2941320" cy="274320"/>
          </a:xfrm>
          <a:prstGeom prst="roundRect">
            <a:avLst>
              <a:gd name="adj" fmla="val 46667"/>
            </a:avLst>
          </a:pr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5638800" y="4773168"/>
            <a:ext cx="294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MSAL.js + Entra ID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625840" y="4773168"/>
            <a:ext cx="2941320" cy="274320"/>
          </a:xfrm>
          <a:prstGeom prst="roundRect">
            <a:avLst>
              <a:gd name="adj" fmla="val 46667"/>
            </a:avLst>
          </a:prstGeom>
          <a:solidFill>
            <a:srgbClr val="FFFFFF"/>
          </a:solidFill>
          <a:ln/>
        </p:spPr>
      </p:sp>
      <p:sp>
        <p:nvSpPr>
          <p:cNvPr id="56" name="Text 54"/>
          <p:cNvSpPr/>
          <p:nvPr/>
        </p:nvSpPr>
        <p:spPr>
          <a:xfrm>
            <a:off x="8625840" y="4773168"/>
            <a:ext cx="294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+ webhooks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651760" y="5084064"/>
            <a:ext cx="2941320" cy="274320"/>
          </a:xfrm>
          <a:prstGeom prst="roundRect">
            <a:avLst>
              <a:gd name="adj" fmla="val 46667"/>
            </a:avLst>
          </a:pr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2651760" y="5084064"/>
            <a:ext cx="294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RAG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638800" y="5084064"/>
            <a:ext cx="2941320" cy="274320"/>
          </a:xfrm>
          <a:prstGeom prst="roundRect">
            <a:avLst>
              <a:gd name="adj" fmla="val 46667"/>
            </a:avLst>
          </a:prstGeom>
          <a:solidFill>
            <a:srgbClr val="FFFFFF"/>
          </a:solidFill>
          <a:ln/>
        </p:spPr>
      </p:sp>
      <p:sp>
        <p:nvSpPr>
          <p:cNvPr id="60" name="Text 58"/>
          <p:cNvSpPr/>
          <p:nvPr/>
        </p:nvSpPr>
        <p:spPr>
          <a:xfrm>
            <a:off x="5638800" y="5084064"/>
            <a:ext cx="294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 perm-trim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8625840" y="5084064"/>
            <a:ext cx="2941320" cy="274320"/>
          </a:xfrm>
          <a:prstGeom prst="roundRect">
            <a:avLst>
              <a:gd name="adj" fmla="val 46667"/>
            </a:avLst>
          </a:prstGeom>
          <a:solidFill>
            <a:srgbClr val="FFFFFF"/>
          </a:solidFill>
          <a:ln/>
        </p:spPr>
      </p:sp>
      <p:sp>
        <p:nvSpPr>
          <p:cNvPr id="62" name="Text 60"/>
          <p:cNvSpPr/>
          <p:nvPr/>
        </p:nvSpPr>
        <p:spPr>
          <a:xfrm>
            <a:off x="8625840" y="5084064"/>
            <a:ext cx="294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Shields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02920" y="5650992"/>
            <a:ext cx="11247120" cy="594360"/>
          </a:xfrm>
          <a:prstGeom prst="roundRect">
            <a:avLst>
              <a:gd name="adj" fmla="val 215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7200000">
              <a:srgbClr val="1C1A22">
                <a:alpha val="9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777240" y="56967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V1 : </a:t>
            </a:r>
            <a:pPr indent="0" marL="0">
              <a:buNone/>
            </a:pPr>
            <a:r>
              <a:rPr lang="en-US" sz="1100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~115 €/mois/CEO  ·  </a:t>
            </a:r>
            <a:pPr indent="0" marL="0">
              <a:buNone/>
            </a:pPr>
            <a:r>
              <a:rPr lang="en-US" sz="1100" b="1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Latence : </a:t>
            </a:r>
            <a:pPr indent="0" marL="0">
              <a:buNone/>
            </a:pPr>
            <a:r>
              <a:rPr lang="en-US" sz="1100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&lt;1,5 s (streaming)  ·  </a:t>
            </a:r>
            <a:pPr indent="0" marL="0">
              <a:buNone/>
            </a:pPr>
            <a:r>
              <a:rPr lang="en-US" sz="1100" b="1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Mémoire : </a:t>
            </a:r>
            <a:pPr indent="0" marL="0">
              <a:buNone/>
            </a:pPr>
            <a:r>
              <a:rPr lang="en-US" sz="1100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HNSW  ·  </a:t>
            </a:r>
            <a:pPr indent="0" marL="0">
              <a:buNone/>
            </a:pPr>
            <a:r>
              <a:rPr lang="en-US" sz="1100" b="1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 : </a:t>
            </a:r>
            <a:pPr indent="0" marL="0">
              <a:buNone/>
            </a:pPr>
            <a:r>
              <a:rPr lang="en-US" sz="1100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oui, providers EU  ·  </a:t>
            </a:r>
            <a:pPr indent="0" marL="0">
              <a:buNone/>
            </a:pPr>
            <a:r>
              <a:rPr lang="en-US" sz="1100" b="1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: </a:t>
            </a:r>
            <a:pPr indent="0" marL="0">
              <a:buNone/>
            </a:pPr>
            <a:r>
              <a:rPr lang="en-US" sz="1100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scopes par société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A62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AGENT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201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Boucle cognitive.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→ SENSE → DIAGNOSE → PROPOSE → WAIT → ACT → LEARN. 7 états, audit complet.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2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 · Dossier exécutif · Avril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199632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2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Copilote · pour Feycoil Mouhoussoune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50992" y="1726387"/>
            <a:ext cx="877824" cy="877824"/>
          </a:xfrm>
          <a:prstGeom prst="ellipse">
            <a:avLst/>
          </a:prstGeom>
          <a:solidFill>
            <a:srgbClr val="CFE2EF"/>
          </a:solidFill>
          <a:ln w="25400">
            <a:solidFill>
              <a:srgbClr val="7FB5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50992" y="1863547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152296" y="2391538"/>
            <a:ext cx="877824" cy="877824"/>
          </a:xfrm>
          <a:prstGeom prst="ellipse">
            <a:avLst/>
          </a:prstGeom>
          <a:solidFill>
            <a:srgbClr val="F1DFB2"/>
          </a:solidFill>
          <a:ln w="25400">
            <a:solidFill>
              <a:srgbClr val="E0B2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52296" y="2528698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523088" y="3886118"/>
            <a:ext cx="877824" cy="877824"/>
          </a:xfrm>
          <a:prstGeom prst="ellipse">
            <a:avLst/>
          </a:prstGeom>
          <a:solidFill>
            <a:srgbClr val="D7CBEF"/>
          </a:solidFill>
          <a:ln w="25400">
            <a:solidFill>
              <a:srgbClr val="6B4B9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23088" y="4023278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84153" y="5084678"/>
            <a:ext cx="877824" cy="877824"/>
          </a:xfrm>
          <a:prstGeom prst="ellipse">
            <a:avLst/>
          </a:prstGeom>
          <a:solidFill>
            <a:srgbClr val="F8C7BF"/>
          </a:solidFill>
          <a:ln w="25400">
            <a:solidFill>
              <a:srgbClr val="EC7A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84153" y="5221838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08665" y="603565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A62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génère proposition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17831" y="5084678"/>
            <a:ext cx="877824" cy="877824"/>
          </a:xfrm>
          <a:prstGeom prst="ellipse">
            <a:avLst/>
          </a:prstGeom>
          <a:solidFill>
            <a:srgbClr val="F2EBDD"/>
          </a:solidFill>
          <a:ln w="25400">
            <a:solidFill>
              <a:srgbClr val="3A35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17831" y="5221838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WAIT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42343" y="603565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A62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 arbitrage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778896" y="3886118"/>
            <a:ext cx="877824" cy="877824"/>
          </a:xfrm>
          <a:prstGeom prst="ellipse">
            <a:avLst/>
          </a:prstGeom>
          <a:solidFill>
            <a:srgbClr val="D9E8D6"/>
          </a:solidFill>
          <a:ln w="25400">
            <a:solidFill>
              <a:srgbClr val="3E6F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78896" y="4023278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49688" y="2391538"/>
            <a:ext cx="877824" cy="877824"/>
          </a:xfrm>
          <a:prstGeom prst="ellipse">
            <a:avLst/>
          </a:prstGeom>
          <a:solidFill>
            <a:srgbClr val="D7CBEF"/>
          </a:solidFill>
          <a:ln w="25400">
            <a:solidFill>
              <a:srgbClr val="6B4B9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49688" y="2528698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89904" y="2670048"/>
            <a:ext cx="1072360" cy="475108"/>
          </a:xfrm>
          <a:prstGeom prst="line">
            <a:avLst/>
          </a:prstGeom>
          <a:noFill/>
          <a:ln w="12700">
            <a:solidFill>
              <a:srgbClr val="6A6277"/>
            </a:solidFill>
            <a:prstDash val="dash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162264" y="3145156"/>
            <a:ext cx="264851" cy="1067557"/>
          </a:xfrm>
          <a:prstGeom prst="line">
            <a:avLst/>
          </a:prstGeom>
          <a:noFill/>
          <a:ln w="12700">
            <a:solidFill>
              <a:srgbClr val="6A6277"/>
            </a:solidFill>
            <a:prstDash val="dash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427115" y="4212713"/>
            <a:ext cx="-742096" cy="856114"/>
          </a:xfrm>
          <a:prstGeom prst="line">
            <a:avLst/>
          </a:prstGeom>
          <a:noFill/>
          <a:ln w="12700">
            <a:solidFill>
              <a:srgbClr val="6A6277"/>
            </a:solidFill>
            <a:prstDash val="dash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685019" y="5068827"/>
            <a:ext cx="-1190230" cy="0"/>
          </a:xfrm>
          <a:prstGeom prst="line">
            <a:avLst/>
          </a:prstGeom>
          <a:noFill/>
          <a:ln w="12700">
            <a:solidFill>
              <a:srgbClr val="6A6277"/>
            </a:solidFill>
            <a:prstDash val="dash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494789" y="5068827"/>
            <a:ext cx="-742096" cy="-856114"/>
          </a:xfrm>
          <a:prstGeom prst="line">
            <a:avLst/>
          </a:prstGeom>
          <a:noFill/>
          <a:ln w="12700">
            <a:solidFill>
              <a:srgbClr val="6A6277"/>
            </a:solidFill>
            <a:prstDash val="dash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752693" y="4212713"/>
            <a:ext cx="264851" cy="-1067557"/>
          </a:xfrm>
          <a:prstGeom prst="line">
            <a:avLst/>
          </a:prstGeom>
          <a:noFill/>
          <a:ln w="12700">
            <a:solidFill>
              <a:srgbClr val="6A6277"/>
            </a:solidFill>
            <a:prstDash val="dash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017544" y="3145156"/>
            <a:ext cx="1072360" cy="-475108"/>
          </a:xfrm>
          <a:prstGeom prst="line">
            <a:avLst/>
          </a:prstGeom>
          <a:noFill/>
          <a:ln w="12700">
            <a:solidFill>
              <a:srgbClr val="6A6277"/>
            </a:solidFill>
            <a:prstDash val="dash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221224" y="3520440"/>
            <a:ext cx="1737360" cy="82296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7200000">
              <a:srgbClr val="1C1A22">
                <a:alpha val="9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221224" y="36576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Copilote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901184" y="40233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A62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· auditable · arrêtable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2920" y="61722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transition est tracée dans agent_log. Vous pouvez rejouer un épisode. Vous pouvez couper l'agent en 1 clic.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A62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· 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201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jalons · 18 mois · 1,7 M€.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→ V1 → V2 → V3. Chaque palier porte un go/no-go mesuré.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2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 · Dossier exécutif · Avril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199632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2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Copilote · pour Feycoil Mouhoussoune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2724912" cy="3749040"/>
          </a:xfrm>
          <a:prstGeom prst="roundRect">
            <a:avLst>
              <a:gd name="adj" fmla="val 4698"/>
            </a:avLst>
          </a:prstGeom>
          <a:solidFill>
            <a:srgbClr val="D9E8D6"/>
          </a:solidFill>
          <a:ln/>
          <a:effectLst>
            <a:outerShdw sx="100000" sy="100000" kx="0" ky="0" algn="bl" rotWithShape="0" blurRad="127000" dist="38100" dir="7200000">
              <a:srgbClr val="1C1A22">
                <a:alpha val="9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011680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85800" y="251460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3E6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2026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2880360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E6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132 k€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85800" y="3429000"/>
            <a:ext cx="2359152" cy="1463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3429000"/>
            <a:ext cx="449362" cy="146304"/>
          </a:xfrm>
          <a:prstGeom prst="roundRect">
            <a:avLst>
              <a:gd name="adj" fmla="val 50000"/>
            </a:avLst>
          </a:prstGeom>
          <a:solidFill>
            <a:srgbClr val="3E6F3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749040"/>
            <a:ext cx="23591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Cockpit + inbox + copilote v0. 1 CEO testeur (Feycoil).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64992" y="1828800"/>
            <a:ext cx="2724912" cy="3749040"/>
          </a:xfrm>
          <a:prstGeom prst="roundRect">
            <a:avLst>
              <a:gd name="adj" fmla="val 4698"/>
            </a:avLst>
          </a:prstGeom>
          <a:solidFill>
            <a:srgbClr val="CFE2EF"/>
          </a:solidFill>
          <a:ln/>
          <a:effectLst>
            <a:outerShdw sx="100000" sy="100000" kx="0" ky="0" algn="bl" rotWithShape="0" blurRad="127000" dist="38100" dir="7200000">
              <a:srgbClr val="1C1A22">
                <a:alpha val="9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547872" y="2011680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547872" y="251460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7FB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 2026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547872" y="2880360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FB5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290 k€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547872" y="3429000"/>
            <a:ext cx="2359152" cy="1463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3547872" y="3429000"/>
            <a:ext cx="987235" cy="146304"/>
          </a:xfrm>
          <a:prstGeom prst="roundRect">
            <a:avLst>
              <a:gd name="adj" fmla="val 50000"/>
            </a:avLst>
          </a:prstGeom>
          <a:solidFill>
            <a:srgbClr val="7FB5D9"/>
          </a:solidFill>
          <a:ln/>
        </p:spPr>
      </p:sp>
      <p:sp>
        <p:nvSpPr>
          <p:cNvPr id="20" name="Text 18"/>
          <p:cNvSpPr/>
          <p:nvPr/>
        </p:nvSpPr>
        <p:spPr>
          <a:xfrm>
            <a:off x="3547872" y="3749040"/>
            <a:ext cx="23591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Ouverture équipe ETIC. Vues visuelles, revue dimanche, mémoire.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27064" y="1828800"/>
            <a:ext cx="2724912" cy="3749040"/>
          </a:xfrm>
          <a:prstGeom prst="roundRect">
            <a:avLst>
              <a:gd name="adj" fmla="val 4698"/>
            </a:avLst>
          </a:prstGeom>
          <a:solidFill>
            <a:srgbClr val="D7CBEF"/>
          </a:solidFill>
          <a:ln/>
          <a:effectLst>
            <a:outerShdw sx="100000" sy="100000" kx="0" ky="0" algn="bl" rotWithShape="0" blurRad="127000" dist="38100" dir="7200000">
              <a:srgbClr val="1C1A22">
                <a:alpha val="9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9944" y="2011680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409944" y="251460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6B4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2027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09944" y="2880360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4B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693 k€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409944" y="3429000"/>
            <a:ext cx="2359152" cy="1463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9944" y="3429000"/>
            <a:ext cx="2359152" cy="146304"/>
          </a:xfrm>
          <a:prstGeom prst="roundRect">
            <a:avLst>
              <a:gd name="adj" fmla="val 50000"/>
            </a:avLst>
          </a:prstGeom>
          <a:solidFill>
            <a:srgbClr val="6B4B9F"/>
          </a:solidFill>
          <a:ln/>
        </p:spPr>
      </p:sp>
      <p:sp>
        <p:nvSpPr>
          <p:cNvPr id="27" name="Text 25"/>
          <p:cNvSpPr/>
          <p:nvPr/>
        </p:nvSpPr>
        <p:spPr>
          <a:xfrm>
            <a:off x="6409944" y="3749040"/>
            <a:ext cx="23591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Pensée visuelle pleine : canvas, graphes, 10 gabarits. Délégation un-clic.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089136" y="1828800"/>
            <a:ext cx="2724912" cy="3749040"/>
          </a:xfrm>
          <a:prstGeom prst="roundRect">
            <a:avLst>
              <a:gd name="adj" fmla="val 4698"/>
            </a:avLst>
          </a:prstGeom>
          <a:solidFill>
            <a:srgbClr val="F1DFB2"/>
          </a:solidFill>
          <a:ln/>
          <a:effectLst>
            <a:outerShdw sx="100000" sy="100000" kx="0" ky="0" algn="bl" rotWithShape="0" blurRad="127000" dist="38100" dir="7200000">
              <a:srgbClr val="1C1A22">
                <a:alpha val="9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272016" y="2011680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V3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9272016" y="251460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0B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 2027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272016" y="2880360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B2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598 k€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9272016" y="3429000"/>
            <a:ext cx="2359152" cy="1463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9272016" y="3429000"/>
            <a:ext cx="2035747" cy="146304"/>
          </a:xfrm>
          <a:prstGeom prst="roundRect">
            <a:avLst>
              <a:gd name="adj" fmla="val 50000"/>
            </a:avLst>
          </a:prstGeom>
          <a:solidFill>
            <a:srgbClr val="E0B25C"/>
          </a:solidFill>
          <a:ln/>
        </p:spPr>
      </p:sp>
      <p:sp>
        <p:nvSpPr>
          <p:cNvPr id="34" name="Text 32"/>
          <p:cNvSpPr/>
          <p:nvPr/>
        </p:nvSpPr>
        <p:spPr>
          <a:xfrm>
            <a:off x="9272016" y="3749040"/>
            <a:ext cx="23591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Scalabilité multi-CEO (5-20). API + marketplace proto.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02920" y="5715000"/>
            <a:ext cx="11311128" cy="0"/>
          </a:xfrm>
          <a:prstGeom prst="line">
            <a:avLst/>
          </a:prstGeom>
          <a:noFill/>
          <a:ln w="12700">
            <a:solidFill>
              <a:srgbClr val="6A62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5760720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A62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26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364992" y="5760720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A62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 26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27064" y="5760720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A62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Juin 27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089136" y="5760720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A62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 27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02920" y="5806440"/>
            <a:ext cx="11247120" cy="594360"/>
          </a:xfrm>
          <a:prstGeom prst="roundRect">
            <a:avLst>
              <a:gd name="adj" fmla="val 215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7200000">
              <a:srgbClr val="1C1A22">
                <a:alpha val="9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77240" y="585216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18 mois : </a:t>
            </a:r>
            <a:pPr indent="0" marL="0">
              <a:buNone/>
            </a:pPr>
            <a:r>
              <a:rPr lang="en-US" sz="1200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1 713 k€  ·  </a:t>
            </a:r>
            <a:pPr indent="0" marL="0">
              <a:buNone/>
            </a:pPr>
            <a:r>
              <a:rPr lang="en-US" sz="1200" b="1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: </a:t>
            </a:r>
            <a:pPr indent="0" marL="0">
              <a:buNone/>
            </a:pPr>
            <a:r>
              <a:rPr lang="en-US" sz="1200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→ 9 ETP  ·  </a:t>
            </a:r>
            <a:pPr indent="0" marL="0">
              <a:buNone/>
            </a:pPr>
            <a:r>
              <a:rPr lang="en-US" sz="1200" b="1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1er go/no-go : </a:t>
            </a:r>
            <a:pPr indent="0" marL="0">
              <a:buNone/>
            </a:pPr>
            <a:r>
              <a:rPr lang="en-US" sz="1200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sept. 2026 (MVP → V1).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A62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· ÉQUIPE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201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ETP à maturité.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légère, responsabilités nettes, rien de redondant.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2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 · Dossier exécutif · Avril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199632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2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Copilote · pour Feycoil Mouhoussoune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2708910" cy="1371600"/>
          </a:xfrm>
          <a:prstGeom prst="roundRect">
            <a:avLst>
              <a:gd name="adj" fmla="val 9333"/>
            </a:avLst>
          </a:prstGeom>
          <a:solidFill>
            <a:srgbClr val="D7CBEF"/>
          </a:solidFill>
          <a:ln/>
          <a:effectLst>
            <a:outerShdw sx="100000" sy="100000" kx="0" ky="0" algn="bl" rotWithShape="0" blurRad="127000" dist="38100" dir="7200000">
              <a:srgbClr val="1C1A22">
                <a:alpha val="9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011680"/>
            <a:ext cx="23431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Owner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377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4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ETP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97430" y="2377440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2297430" y="237744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4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2697480"/>
            <a:ext cx="2343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Vision, RICE, roadmap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48990" y="1828800"/>
            <a:ext cx="2708910" cy="1371600"/>
          </a:xfrm>
          <a:prstGeom prst="roundRect">
            <a:avLst>
              <a:gd name="adj" fmla="val 9333"/>
            </a:avLst>
          </a:prstGeom>
          <a:solidFill>
            <a:srgbClr val="CFE2EF"/>
          </a:solidFill>
          <a:ln/>
          <a:effectLst>
            <a:outerShdw sx="100000" sy="100000" kx="0" ky="0" algn="bl" rotWithShape="0" blurRad="127000" dist="38100" dir="7200000">
              <a:srgbClr val="1C1A22">
                <a:alpha val="9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531870" y="2011680"/>
            <a:ext cx="23431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Lead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31870" y="2377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B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ETP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143500" y="2377440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143500" y="237744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FB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31870" y="2697480"/>
            <a:ext cx="2343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Archi, revue, stack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95060" y="1828800"/>
            <a:ext cx="2708910" cy="1371600"/>
          </a:xfrm>
          <a:prstGeom prst="roundRect">
            <a:avLst>
              <a:gd name="adj" fmla="val 9333"/>
            </a:avLst>
          </a:prstGeom>
          <a:solidFill>
            <a:srgbClr val="F1DFB2"/>
          </a:solidFill>
          <a:ln/>
          <a:effectLst>
            <a:outerShdw sx="100000" sy="100000" kx="0" ky="0" algn="bl" rotWithShape="0" blurRad="127000" dist="38100" dir="7200000">
              <a:srgbClr val="1C1A22">
                <a:alpha val="9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77940" y="2011680"/>
            <a:ext cx="23431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Designer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77940" y="2377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B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ETP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989570" y="2377440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7989570" y="237744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B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77940" y="2697480"/>
            <a:ext cx="2343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Twisty, UX, écritures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041130" y="1828800"/>
            <a:ext cx="2708910" cy="1371600"/>
          </a:xfrm>
          <a:prstGeom prst="roundRect">
            <a:avLst>
              <a:gd name="adj" fmla="val 9333"/>
            </a:avLst>
          </a:prstGeom>
          <a:solidFill>
            <a:srgbClr val="F8C7BF"/>
          </a:solidFill>
          <a:ln/>
          <a:effectLst>
            <a:outerShdw sx="100000" sy="100000" kx="0" ky="0" algn="bl" rotWithShape="0" blurRad="127000" dist="38100" dir="7200000">
              <a:srgbClr val="1C1A22">
                <a:alpha val="9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224010" y="2011680"/>
            <a:ext cx="23431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Eng. x2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224010" y="2377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ETP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835640" y="2377440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10835640" y="237744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C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224010" y="2697480"/>
            <a:ext cx="2343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Agents, mémoire, prompts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2920" y="3337560"/>
            <a:ext cx="3657600" cy="1371600"/>
          </a:xfrm>
          <a:prstGeom prst="roundRect">
            <a:avLst>
              <a:gd name="adj" fmla="val 9333"/>
            </a:avLst>
          </a:prstGeom>
          <a:solidFill>
            <a:srgbClr val="D9E8D6"/>
          </a:solidFill>
          <a:ln/>
          <a:effectLst>
            <a:outerShdw sx="100000" sy="100000" kx="0" ky="0" algn="bl" rotWithShape="0" blurRad="127000" dist="38100" dir="7200000">
              <a:srgbClr val="1C1A22">
                <a:alpha val="9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85800" y="3520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Full-stack x2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5800" y="3886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6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ETP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00400" y="388620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3200400" y="3886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E6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85800" y="4206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Front, Supabase, M365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297680" y="3337560"/>
            <a:ext cx="3657600" cy="1371600"/>
          </a:xfrm>
          <a:prstGeom prst="roundRect">
            <a:avLst>
              <a:gd name="adj" fmla="val 9333"/>
            </a:avLst>
          </a:prstGeom>
          <a:solidFill>
            <a:srgbClr val="D7CBEF"/>
          </a:solidFill>
          <a:ln/>
          <a:effectLst>
            <a:outerShdw sx="100000" sy="100000" kx="0" ky="0" algn="bl" rotWithShape="0" blurRad="127000" dist="38100" dir="7200000">
              <a:srgbClr val="1C1A22">
                <a:alpha val="9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480560" y="3520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Scientist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480560" y="3886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4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ETP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995160" y="388620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6995160" y="3886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4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480560" y="4206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Évals, fine-tuning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092440" y="3337560"/>
            <a:ext cx="3657600" cy="1371600"/>
          </a:xfrm>
          <a:prstGeom prst="roundRect">
            <a:avLst>
              <a:gd name="adj" fmla="val 9333"/>
            </a:avLst>
          </a:prstGeom>
          <a:solidFill>
            <a:srgbClr val="D9E8D6"/>
          </a:solidFill>
          <a:ln/>
          <a:effectLst>
            <a:outerShdw sx="100000" sy="100000" kx="0" ky="0" algn="bl" rotWithShape="0" blurRad="127000" dist="38100" dir="7200000">
              <a:srgbClr val="1C1A22">
                <a:alpha val="9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8275320" y="3520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DevOps / Sécu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275320" y="3886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6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ETP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0789920" y="388620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10789920" y="3886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E6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275320" y="4206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EU, RLS, audit, RGPD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02920" y="5029200"/>
            <a:ext cx="1124712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7200000">
              <a:srgbClr val="1C1A22">
                <a:alpha val="9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777240" y="5166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C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Gouvernance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77240" y="54406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semaines · </a:t>
            </a:r>
            <a:pPr indent="0" marL="0">
              <a:buNone/>
            </a:pPr>
            <a:r>
              <a:rPr lang="en-US" sz="1300" b="1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 PMO mensuelle · </a:t>
            </a:r>
            <a:pPr indent="0" marL="0">
              <a:buNone/>
            </a:pPr>
            <a:r>
              <a:rPr lang="en-US" sz="1300" b="1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Go/no-go trimestriel · </a:t>
            </a:r>
            <a:pPr indent="0" marL="0">
              <a:buNone/>
            </a:pPr>
            <a:r>
              <a:rPr lang="en-US" sz="1300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IA externe (éthique + sécu) 1×/trim.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A62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· RISQUES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201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Cinq risques majeurs, cinq parades.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Classés par score proba × impact (matrice complète en backlog).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2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 · Dossier exécutif · Avril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199632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2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Copilote · pour Feycoil Mouhoussoune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28800"/>
          <a:ext cx="11247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108960"/>
                <a:gridCol w="4846320"/>
                <a:gridCol w="9144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D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injection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Mail piégé → agent exfiltre données.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Prompt Shields + allow-list d'outils + action humaine sur sortie.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4×5 = 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7B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Dérive coût LLM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Usage exponentiel sur requêtes longues.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soft/hard par CEO/jour · fallback Haiku · cache sémantique.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4×3 = 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FB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Tokens M365 expirés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Webhook 4230min coupe.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Worker renouvellement + retry + alerting dédié.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5×2 = 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FB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Hallucinations décisions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propose un engagement faux.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contraint + cit. source obligatoire + bouton 'pourquoi ?'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3×5 = 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FB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Lock-in provider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seul LLM, facture et souveraineté fragiles.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LiteLLM multi-provider · portabilité prompts · évals croisées.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C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2×5 = 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FB2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02920" y="61722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C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risque principal n'est pas technique — c'est l'adoption. Si le ton rate, le copilote meurt.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A62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· SUCCÈS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201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qu'on mesure.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KPI produits · 4 KPI santé · 3 KPI business. Rien de superflu.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2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 · Dossier exécutif · Avril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199632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2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Copilote · pour Feycoil Mouhoussoune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3712464" cy="1280160"/>
          </a:xfrm>
          <a:prstGeom prst="roundRect">
            <a:avLst>
              <a:gd name="adj" fmla="val 10000"/>
            </a:avLst>
          </a:prstGeom>
          <a:solidFill>
            <a:srgbClr val="D7CBEF"/>
          </a:solidFill>
          <a:ln/>
          <a:effectLst>
            <a:outerShdw sx="100000" sy="100000" kx="0" ky="0" algn="bl" rotWithShape="0" blurRad="127000" dist="38100" dir="7200000">
              <a:srgbClr val="1C1A22">
                <a:alpha val="9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0116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4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432304" y="19659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6B4B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1520" y="2286000"/>
            <a:ext cx="1837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Acceptance rate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651760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propositions acceptées / proposées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52544" y="1828800"/>
            <a:ext cx="3712464" cy="1280160"/>
          </a:xfrm>
          <a:prstGeom prst="roundRect">
            <a:avLst>
              <a:gd name="adj" fmla="val 10000"/>
            </a:avLst>
          </a:prstGeom>
          <a:solidFill>
            <a:srgbClr val="D7CBEF"/>
          </a:solidFill>
          <a:ln/>
          <a:effectLst>
            <a:outerShdw sx="100000" sy="100000" kx="0" ky="0" algn="bl" rotWithShape="0" blurRad="127000" dist="38100" dir="7200000">
              <a:srgbClr val="1C1A22">
                <a:alpha val="9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81144" y="20116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4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281928" y="19659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6B4B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&lt;10s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581144" y="2286000"/>
            <a:ext cx="1837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Temps arbitrage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81144" y="2651760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médiane pour dire oui/non/plus tard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202168" y="1828800"/>
            <a:ext cx="3712464" cy="1280160"/>
          </a:xfrm>
          <a:prstGeom prst="roundRect">
            <a:avLst>
              <a:gd name="adj" fmla="val 10000"/>
            </a:avLst>
          </a:prstGeom>
          <a:solidFill>
            <a:srgbClr val="D7CBEF"/>
          </a:solidFill>
          <a:ln/>
          <a:effectLst>
            <a:outerShdw sx="100000" sy="100000" kx="0" ky="0" algn="bl" rotWithShape="0" blurRad="127000" dist="38100" dir="7200000">
              <a:srgbClr val="1C1A22">
                <a:alpha val="9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430768" y="20116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4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131552" y="19659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6B4B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≥92%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430768" y="2286000"/>
            <a:ext cx="1837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Couverture M365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30768" y="2651760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emails+RDV vus sans friction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3246120"/>
            <a:ext cx="3712464" cy="1280160"/>
          </a:xfrm>
          <a:prstGeom prst="roundRect">
            <a:avLst>
              <a:gd name="adj" fmla="val 10000"/>
            </a:avLst>
          </a:prstGeom>
          <a:solidFill>
            <a:srgbClr val="D9E8D6"/>
          </a:solidFill>
          <a:ln/>
          <a:effectLst>
            <a:outerShdw sx="100000" sy="100000" kx="0" ky="0" algn="bl" rotWithShape="0" blurRad="127000" dist="38100" dir="7200000">
              <a:srgbClr val="1C1A22">
                <a:alpha val="9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31520" y="34290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E6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SANTÉ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432304" y="33832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3E6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6h/sem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731520" y="3703320"/>
            <a:ext cx="1837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Heures retrouvées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1520" y="4069080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libéré self-déclaré (≥ V1)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352544" y="3246120"/>
            <a:ext cx="3712464" cy="1280160"/>
          </a:xfrm>
          <a:prstGeom prst="roundRect">
            <a:avLst>
              <a:gd name="adj" fmla="val 10000"/>
            </a:avLst>
          </a:prstGeom>
          <a:solidFill>
            <a:srgbClr val="D9E8D6"/>
          </a:solidFill>
          <a:ln/>
          <a:effectLst>
            <a:outerShdw sx="100000" sy="100000" kx="0" ky="0" algn="bl" rotWithShape="0" blurRad="127000" dist="38100" dir="7200000">
              <a:srgbClr val="1C1A22">
                <a:alpha val="9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81144" y="34290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E6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SANTÉ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81928" y="33832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3E6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≥70%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4581144" y="3703320"/>
            <a:ext cx="1837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Shutdown rate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81144" y="4069080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rituel soir terminé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202168" y="3246120"/>
            <a:ext cx="3712464" cy="1280160"/>
          </a:xfrm>
          <a:prstGeom prst="roundRect">
            <a:avLst>
              <a:gd name="adj" fmla="val 10000"/>
            </a:avLst>
          </a:prstGeom>
          <a:solidFill>
            <a:srgbClr val="D9E8D6"/>
          </a:solidFill>
          <a:ln/>
          <a:effectLst>
            <a:outerShdw sx="100000" sy="100000" kx="0" ky="0" algn="bl" rotWithShape="0" blurRad="127000" dist="38100" dir="7200000">
              <a:srgbClr val="1C1A22">
                <a:alpha val="9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430768" y="34290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E6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SANTÉ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131552" y="33832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3E6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8430768" y="3703320"/>
            <a:ext cx="1837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Weekend muet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430768" y="4069080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notif sam-dim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02920" y="4663440"/>
            <a:ext cx="3712464" cy="1280160"/>
          </a:xfrm>
          <a:prstGeom prst="roundRect">
            <a:avLst>
              <a:gd name="adj" fmla="val 10000"/>
            </a:avLst>
          </a:prstGeom>
          <a:solidFill>
            <a:srgbClr val="F8C7BF"/>
          </a:solidFill>
          <a:ln/>
          <a:effectLst>
            <a:outerShdw sx="100000" sy="100000" kx="0" ky="0" algn="bl" rotWithShape="0" blurRad="127000" dist="38100" dir="7200000">
              <a:srgbClr val="1C1A22">
                <a:alpha val="9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31520" y="48463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C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432304" y="48006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C7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≥80%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731520" y="5120640"/>
            <a:ext cx="1837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Rétention D30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31520" y="5486400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actifs 30j après signup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352544" y="4663440"/>
            <a:ext cx="3712464" cy="1280160"/>
          </a:xfrm>
          <a:prstGeom prst="roundRect">
            <a:avLst>
              <a:gd name="adj" fmla="val 10000"/>
            </a:avLst>
          </a:prstGeom>
          <a:solidFill>
            <a:srgbClr val="F8C7BF"/>
          </a:solidFill>
          <a:ln/>
          <a:effectLst>
            <a:outerShdw sx="100000" sy="100000" kx="0" ky="0" algn="bl" rotWithShape="0" blurRad="127000" dist="38100" dir="7200000">
              <a:srgbClr val="1C1A22">
                <a:alpha val="9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581144" y="48463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C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81928" y="48006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C7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≥45</a:t>
            </a:r>
            <a:endParaRPr lang="en-US" sz="2600" dirty="0"/>
          </a:p>
        </p:txBody>
      </p:sp>
      <p:sp>
        <p:nvSpPr>
          <p:cNvPr id="45" name="Text 43"/>
          <p:cNvSpPr/>
          <p:nvPr/>
        </p:nvSpPr>
        <p:spPr>
          <a:xfrm>
            <a:off x="4581144" y="5120640"/>
            <a:ext cx="1837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NPS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4581144" y="5486400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promoteurs - détracteurs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8202168" y="4663440"/>
            <a:ext cx="3712464" cy="1280160"/>
          </a:xfrm>
          <a:prstGeom prst="roundRect">
            <a:avLst>
              <a:gd name="adj" fmla="val 10000"/>
            </a:avLst>
          </a:prstGeom>
          <a:solidFill>
            <a:srgbClr val="F8C7BF"/>
          </a:solidFill>
          <a:ln/>
          <a:effectLst>
            <a:outerShdw sx="100000" sy="100000" kx="0" ky="0" algn="bl" rotWithShape="0" blurRad="127000" dist="38100" dir="7200000">
              <a:srgbClr val="1C1A22">
                <a:alpha val="9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8430768" y="48463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C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131552" y="48006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C7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&lt;115€</a:t>
            </a:r>
            <a:endParaRPr lang="en-US" sz="2600" dirty="0"/>
          </a:p>
        </p:txBody>
      </p:sp>
      <p:sp>
        <p:nvSpPr>
          <p:cNvPr id="50" name="Text 48"/>
          <p:cNvSpPr/>
          <p:nvPr/>
        </p:nvSpPr>
        <p:spPr>
          <a:xfrm>
            <a:off x="8430768" y="5120640"/>
            <a:ext cx="1837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Coût/CEO/mois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8430768" y="5486400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A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V1, EU, tous usages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C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8229600" cy="8229600"/>
          </a:xfrm>
          <a:prstGeom prst="ellipse">
            <a:avLst/>
          </a:prstGeom>
          <a:solidFill>
            <a:srgbClr val="6B4B9F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657600"/>
            <a:ext cx="5943600" cy="5943600"/>
          </a:xfrm>
          <a:prstGeom prst="ellipse">
            <a:avLst/>
          </a:prstGeom>
          <a:solidFill>
            <a:srgbClr val="EC7A6A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C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91440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CEO qui respire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prend de meilleures décisions.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77240" y="3291840"/>
            <a:ext cx="9601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C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 n'est pas un outil de productivité.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D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un copilote stratégique qui protège votre attention, votre énergie, vos priorités.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D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pense avec vous. Il ne vous remplace pas. Il ne vous enferme pas dans un flux de tâches.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D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vous rend le temps de décider vraiment — et le droit de ne pas décider aujourd'hui.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5623560"/>
            <a:ext cx="10515600" cy="731520"/>
          </a:xfrm>
          <a:prstGeom prst="roundRect">
            <a:avLst>
              <a:gd name="adj" fmla="val 17500"/>
            </a:avLst>
          </a:prstGeom>
          <a:solidFill>
            <a:srgbClr val="EC7A6A"/>
          </a:solidFill>
          <a:ln/>
          <a:effectLst>
            <a:outerShdw sx="100000" sy="100000" kx="0" ky="0" algn="bl" rotWithShape="0" blurRad="127000" dist="38100" dir="7200000">
              <a:srgbClr val="1C1A22">
                <a:alpha val="9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56235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Prochaine étape  ·  arbitrage du MVP (T2 2026) · budget 132 k€ · équipe 4 ETP.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aiCEO — Dossier exécutif Feycoil</dc:title>
  <dc:subject>Vision, benchmark, architecture, roadmap 2026-2027</dc:subject>
  <dc:creator>Copilote aiCEO</dc:creator>
  <cp:lastModifiedBy>Copilote aiCEO</cp:lastModifiedBy>
  <cp:revision>1</cp:revision>
  <dcterms:created xsi:type="dcterms:W3CDTF">2026-04-23T20:02:15Z</dcterms:created>
  <dcterms:modified xsi:type="dcterms:W3CDTF">2026-04-23T20:02:15Z</dcterms:modified>
</cp:coreProperties>
</file>