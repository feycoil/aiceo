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9E795"/>
                </a:solidFill>
                <a:latin typeface="Calibri"/>
              </a:rPr>
              <a:t>Sprint v0.5-s4 — Kickoff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Pages portefeuille + Assistant chat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9E795"/>
                </a:solidFill>
                <a:latin typeface="Calibri"/>
              </a:rPr>
              <a:t>+ polish service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Calibri"/>
              </a:rPr>
              <a:t>16 → 27 juin 2026 (cible cal initial) · démarrable maintenant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A6277"/>
                </a:solidFill>
                <a:latin typeface="Calibri"/>
              </a:rPr>
              <a:t>10,2 j-dev / 20 j capacité = 49 % marge · 22,1 k€ · cumul v0.5 80 %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A6277"/>
                </a:solidFill>
                <a:latin typeface="Calibri"/>
              </a:rPr>
              <a:t>Binôme CEO + Claude  ·  6 pages migrées  ·  12 issues S4.00 → S4.11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A6277"/>
                </a:solidFill>
                <a:latin typeface="Calibri"/>
              </a:rPr>
              <a:t>Source : 04_docs/DOSSIER-SPRINT-S4.md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Synthèse exécutive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3 piliers · 12 issues · 49 % marge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 · Migration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657600" cy="4114800"/>
          </a:xfrm>
          <a:prstGeom prst="rect">
            <a:avLst/>
          </a:prstGeom>
          <a:solidFill>
            <a:srgbClr val="F8F8F8"/>
          </a:solidFill>
          <a:ln w="635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3C7E"/>
                </a:solidFill>
                <a:latin typeface="Calibri"/>
              </a:rPr>
              <a:t>5 pages back-office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groupes · projets · projet/:id · contacts · decisions
API déjà en place depuis S1, S4 consomme.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657600" cy="502920"/>
          </a:xfrm>
          <a:prstGeom prst="rect">
            <a:avLst/>
          </a:prstGeom>
          <a:solidFill>
            <a:srgbClr val="F9E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71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22"/>
                </a:solidFill>
                <a:latin typeface="Calibri"/>
              </a:rPr>
              <a:t>2 · Assistant 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3657600" cy="4114800"/>
          </a:xfrm>
          <a:prstGeom prst="rect">
            <a:avLst/>
          </a:prstGeom>
          <a:solidFill>
            <a:srgbClr val="F8F8F8"/>
          </a:solidFill>
          <a:ln w="6350">
            <a:solidFill>
              <a:srgbClr val="F9E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7451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3C7E"/>
                </a:solidFill>
                <a:latin typeface="Calibri"/>
              </a:rPr>
              <a:t>Live SSE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Backend table conversations + messages.
Route POST streaming Claude. Front scroll auto + reconnect.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280160"/>
            <a:ext cx="3657600" cy="5029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71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 · Polish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783080"/>
            <a:ext cx="3657600" cy="4114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87451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3C7E"/>
                </a:solidFill>
                <a:latin typeface="Calibri"/>
              </a:rPr>
              <a:t>Raccourci +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3172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Cockpit aiCEO.lnk sur Bureau.
Rotation logs &gt; 10 Mo. INSTALL-WINDOWS.md consolidé.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A6277"/>
                </a:solidFill>
                <a:latin typeface="Calibri"/>
              </a:rPr>
              <a:t>Décalage S5 induit : aucun. S5 reste sur durcissement (CI + Playwright + monitoring + handoff CEO pair).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ADR S4.00 — Méthode + zéro localStorage rappelé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À acter J1 dans 00_BOUSSOLE/DECISIONS.md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F3C7E"/>
                </a:solidFill>
                <a:latin typeface="Calibri"/>
              </a:rPr>
              <a:t>4 points de méthode pour le sprint 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C1A22"/>
                </a:solidFill>
                <a:latin typeface="Calibri"/>
              </a:rPr>
              <a:t>• 1. Rappel S2.00 sur les 5+1 nouvelles pages — 0 localStorage applicatif (sauf aiCEO.uiPrefs)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C1A22"/>
                </a:solidFill>
                <a:latin typeface="Calibri"/>
              </a:rPr>
              <a:t>• 2. Streaming SSE pour assistant — réutilise bus S2.10 + pattern S3.05, max_tokens 1500 cap par défaut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C1A22"/>
                </a:solidFill>
                <a:latin typeface="Calibri"/>
              </a:rPr>
              <a:t>• 3. Démos hebdo (J5 20/06 + J10 27/06) — format S2/S3 : screen-share 30 min, 0 slide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C1A22"/>
                </a:solidFill>
                <a:latin typeface="Calibri"/>
              </a:rPr>
              <a:t>• 4. Tag v0.5-s4 cible lundi 30/06 — release auto-générée depuis RELEASES 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3C7E"/>
                </a:solidFill>
                <a:latin typeface="Calibri"/>
              </a:rPr>
              <a:t>Conséquences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A6277"/>
                </a:solidFill>
                <a:latin typeface="Calibri"/>
              </a:rPr>
              <a:t>• Cumul v0.5 fin S4 = 80 % budget (88,4 k€ / 110 k€). Reste 21,6 k€ pour S5+S6.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A6277"/>
                </a:solidFill>
                <a:latin typeface="Calibri"/>
              </a:rPr>
              <a:t>• Dépendances héritées par S5 : durcissement + handoff CEO pair (S4 livre 6 pages prêtes).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A6277"/>
                </a:solidFill>
                <a:latin typeface="Calibri"/>
              </a:rPr>
              <a:t>• Règle systématique : tests e2e nouveaux démarrent HTTP-boundary, Playwright Linux S5.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Pilier 1 — 5 pages back-office migrées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API SQLite déjà disponible depuis S1, S4 consomme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188720"/>
            <a:ext cx="1097280" cy="548640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30759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200400" cy="548640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307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Source 01_app-web/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188720"/>
            <a:ext cx="4114800" cy="548640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307592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API consommée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1440" y="1188720"/>
            <a:ext cx="914400" cy="548640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0" y="130759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373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5623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groupes.html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73736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856231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S4.03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73736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1856231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groupes.html (124 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73736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1856231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GET /api/groups (S1)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21440" y="173736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0" y="1856231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1,0 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286000"/>
            <a:ext cx="27432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40487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projets.html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286000"/>
            <a:ext cx="109728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240487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S4.04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286000"/>
            <a:ext cx="3200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79" y="240487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projets.html (84 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286000"/>
            <a:ext cx="41148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2404872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GET /api/projects (S1)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21440" y="2286000"/>
            <a:ext cx="914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0" y="240487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1,0 j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834639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95351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projet/:id.html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2834639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2953511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S4.05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2834639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2953511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projets/*.html (10 fichiers)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834639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2953511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GET /api/projects/:id + tasks +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521440" y="2834639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612880" y="2953511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1,5 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83280"/>
            <a:ext cx="27432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502152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contacts.html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3383280"/>
            <a:ext cx="109728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350215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S4.06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3383280"/>
            <a:ext cx="3200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79" y="350215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contacts.html (158 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383280"/>
            <a:ext cx="41148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3502152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GET /api/contacts ?q=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521440" y="3383280"/>
            <a:ext cx="914400" cy="5486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12880" y="350215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1,0 j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9319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050791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decisions.html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393192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4050791"/>
            <a:ext cx="960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S4.07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393192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79" y="4050791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decisions.html (151 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39319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79" y="4050791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GET /api/decisions + POST :id/recommend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521440" y="393192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12880" y="4050791"/>
            <a:ext cx="777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0,8 j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Bonus : factorisation 10 pages projet → 1 template paramétré (?id=...)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6277"/>
                </a:solidFill>
                <a:latin typeface="Calibri"/>
              </a:rPr>
              <a:t>Charge totale pilier 1 = 5,3 j-dev (52 % du sprint)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Pilier 2 — Assistant chat live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Streaming Claude SSE + scroll auto + reconnexion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Backend (S4.01, 1,5 j)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669280" cy="4114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44068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Table assistant_conversations(id, title, created_at, updated_at)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Table assistant_messages(id, conversation_id, role, content, ts, model, tokens_in, tokens_out)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POST /api/assistant/messages → stream SSE (chunks text + done)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GET /api/assistant/conversations → 20 dernières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GET /api/assistant/conversations/:id → full thread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Réutilise SDK Anthropic + bus EventEmitter S2.10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Cap max_tokens 1500, fallback non-streaming si KO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Frontend (S4.02, 1,5 j)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669280" cy="4114800"/>
          </a:xfrm>
          <a:prstGeom prst="rect">
            <a:avLst/>
          </a:prstGeom>
          <a:solidFill>
            <a:srgbClr val="F8F8F8"/>
          </a:solidFill>
          <a:ln w="635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544068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fetch POST + EventSource pour stream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Scroll auto en bas sur nouveau message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Streaming progressif : chunks ajoutés au DOM en live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Reconnexion exponentielle 1 s → 30 s plafond (S3.05)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Indicateur 'Claude réfléchit…' (cursor animé)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History 20 conversations dans sidebar gauche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C1A22"/>
                </a:solidFill>
                <a:latin typeface="Calibri"/>
              </a:rPr>
              <a:t>• Zéro localStorage applicatif (sauf aiCEO.uiPrefs)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A6277"/>
                </a:solidFill>
                <a:latin typeface="Calibri"/>
              </a:rPr>
              <a:t>Critères acceptance : first-token &lt; 3 s · full-response &lt; 30 s · zéro 500 si pas de clé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Pilier 3 — Polish service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Raccourci desktop + rotation logs + INSTALL-WINDOWS.md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52144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S4.08 · Raccourci desktop  —  0,3 j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11521440" cy="1737360"/>
          </a:xfrm>
          <a:prstGeom prst="rect">
            <a:avLst/>
          </a:prstGeom>
          <a:solidFill>
            <a:srgbClr val="F8F8F8"/>
          </a:solidFill>
          <a:ln w="635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338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Calibri"/>
              </a:rPr>
              <a:t>Cockpit aiCEO.lnk sur le Bureau du CEO. Pointe sur http://localhost:4747. Icône custom.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11521440" cy="457200"/>
          </a:xfrm>
          <a:prstGeom prst="rect">
            <a:avLst/>
          </a:prstGeom>
          <a:solidFill>
            <a:srgbClr val="F9E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22"/>
                </a:solidFill>
                <a:latin typeface="Calibri"/>
              </a:rPr>
              <a:t>S4.09 · Polish service  —  0,8 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11521440" cy="1737360"/>
          </a:xfrm>
          <a:prstGeom prst="rect">
            <a:avLst/>
          </a:prstGeom>
          <a:solidFill>
            <a:srgbClr val="F8F8F8"/>
          </a:solidFill>
          <a:ln w="6350">
            <a:solidFill>
              <a:srgbClr val="F9E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11338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1A22"/>
                </a:solidFill>
                <a:latin typeface="Calibri"/>
              </a:rPr>
              <a:t>Wrapper enrichi : rotation logs &gt; 10 Mo → .log.1. INSTALL-WINDOWS.md consolidé : install fresh / update / uninstall.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A6277"/>
                </a:solidFill>
                <a:latin typeface="Calibri"/>
              </a:rPr>
              <a:t>Polish ≠ durcissement. Le durcissement S5 ajoutera : MSI install, monitoring, CI Playwright Linux.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12 issues —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S4.00 → S4.11 · charge totale 10,2 j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91440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188720"/>
            <a:ext cx="612648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1261872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188720"/>
            <a:ext cx="82296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26187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188720"/>
            <a:ext cx="91440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261872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Charge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82296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26187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72768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645920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1572768"/>
            <a:ext cx="61264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1645920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ADR Sprint S4 — méthode + zéro localStorage rappelé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572768"/>
            <a:ext cx="822960" cy="384048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164592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572768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645920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0,3 j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572768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164592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95681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029968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1956816"/>
            <a:ext cx="6126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4752" y="2029968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Backend assistant chat (table + POST streaming SSE)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1956816"/>
            <a:ext cx="822960" cy="384048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1" y="202996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95681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2029968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1,5 j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195681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202996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340864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2414016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2340864"/>
            <a:ext cx="61264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44752" y="2414016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Frontend assistant.html migré + chat live SSE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2340864"/>
            <a:ext cx="822960" cy="384048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1231" y="241401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2340864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2414016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1,5 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2340864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08592" y="241401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72491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2798064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2724912"/>
            <a:ext cx="6126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44752" y="2798064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Frontend groupes.html migré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2724912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71231" y="279806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272491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4192" y="2798064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1,0 j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2724912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08592" y="279806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108960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3182112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3108960"/>
            <a:ext cx="61264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44752" y="3182112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Frontend projets.html migré API + filtre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3108960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71231" y="318211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3108960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94192" y="3182112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1,0 j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3108960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08592" y="318211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49300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3566160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3493008"/>
            <a:ext cx="6126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44752" y="3566160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Frontend projet.html template commun (10 → 1)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3493008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71231" y="356616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349300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94192" y="3566160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1,5 j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349300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8592" y="356616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877056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" y="3950208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0" y="3877056"/>
            <a:ext cx="61264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44752" y="3950208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Frontend contacts.html migré API + recherche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98079" y="3877056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71231" y="395020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21040" y="3877056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94192" y="3950208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1,0 j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35440" y="3877056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08592" y="395020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26110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4334256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0" y="4261104"/>
            <a:ext cx="6126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44752" y="4334256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Frontend decisions.html migré API + IA recommend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498079" y="4261104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71231" y="433425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321040" y="426110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94192" y="4334256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0,8 j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35440" y="4261104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308592" y="433425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4645152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0352" y="4718304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71600" y="4645152"/>
            <a:ext cx="61264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444752" y="4718304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Raccourci desktop "Cockpit aiCEO"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98079" y="4645152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71231" y="471830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A6277"/>
                </a:solidFill>
                <a:latin typeface="Calibri"/>
              </a:rPr>
              <a:t>P2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21040" y="4645152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94192" y="4718304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0,3 j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35440" y="4645152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08592" y="471830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502920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0352" y="5102352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71600" y="5029200"/>
            <a:ext cx="6126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444752" y="5102352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Polish service Windows (logs rotation + INSTALL doc)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98079" y="5029200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71231" y="510235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A6277"/>
                </a:solidFill>
                <a:latin typeface="Calibri"/>
              </a:rPr>
              <a:t>P2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321040" y="502920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394192" y="5102352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0,8 j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235440" y="5029200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308592" y="510235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5413248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0352" y="5486400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S4.10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371600" y="5413248"/>
            <a:ext cx="61264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44752" y="5486400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Tests e2e + unitaires extensions ≥ 80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498079" y="5413248"/>
            <a:ext cx="822960" cy="384048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571231" y="548640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321040" y="5413248"/>
            <a:ext cx="9144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94192" y="5486400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1,0 j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235440" y="5413248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308592" y="548640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Dev1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579729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0352" y="5870448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S4.11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371600" y="5797296"/>
            <a:ext cx="6126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444752" y="5870448"/>
            <a:ext cx="60350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Documentation API S4 + recette CEO v0.5-s4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98079" y="5797296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571231" y="587044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321040" y="579729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94192" y="5870448"/>
            <a:ext cx="8229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0,5 j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35440" y="579729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308592" y="587044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PMO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Total : 10,2 j-dev sur 20 j capacité = 49 % marge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Planning daily — 10 j ouvrés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16/06 → 27/06/2026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82296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6187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188720"/>
            <a:ext cx="82296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126187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188720"/>
            <a:ext cx="228600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1261872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Issue lead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7498079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261872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Activités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72768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64592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J1 lun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1572768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164592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16/06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1572768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2" y="1645920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S4.00 + S4.01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572768"/>
            <a:ext cx="7498079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1645920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Kickoff 09:00 · ADR · backend démarre table + route streaming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95681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02996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J2 mar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1956816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2" y="202996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17/06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19568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4832" y="2029968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S4.01 → S4.02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956816"/>
            <a:ext cx="74980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2029968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Streaming Claude testé · assistant.html démarre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340864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41401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J3 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2340864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241401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18/06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2340864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2414016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S4.02 fin · 03+04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2340864"/>
            <a:ext cx="7498079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2414016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Chat live OK · groupes + projets en parallèle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24912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J4 jeu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2724912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61872" y="279806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19/06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272491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84832" y="2798064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S4.03 fin · S4.05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724912"/>
            <a:ext cx="74980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0832" y="2798064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Template projet.html démarre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108960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18211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J5 ven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3108960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61872" y="318211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20/06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3108960"/>
            <a:ext cx="228600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84832" y="3182112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S4.05 fin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3108960"/>
            <a:ext cx="7498079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3182112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Buffer · 16:00 démo intermédiaire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9300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356616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J6 lun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8720" y="349300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61872" y="3566160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23/06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349300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84832" y="3566160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S4.06 + S4.10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3493008"/>
            <a:ext cx="74980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0832" y="3566160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contacts.html · tests démarrent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877056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395020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J7 mar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88720" y="3877056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61872" y="3950208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24/06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11680" y="3877056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84832" y="3950208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S4.07 + S4.10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97680" y="3877056"/>
            <a:ext cx="7498079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70832" y="3950208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decisions.html + recommend Claude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261104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433425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J8 mer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88720" y="4261104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61872" y="4334256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25/06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426110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84832" y="4334256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S4.08 + S4.09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97680" y="4261104"/>
            <a:ext cx="74980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70832" y="4334256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Raccourci desktop + polish service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645152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471830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J9 jeu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88720" y="4645152"/>
            <a:ext cx="82296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61872" y="4718304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26/06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11680" y="4645152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84832" y="4718304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S4.11 + buffer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4645152"/>
            <a:ext cx="7498079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70832" y="4718304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Doc API + recette · correctifs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029200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8912" y="510235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J10 ven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88720" y="5029200"/>
            <a:ext cx="82296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61872" y="5102352"/>
            <a:ext cx="73152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27/06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11680" y="5029200"/>
            <a:ext cx="2286000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84832" y="5102352"/>
            <a:ext cx="219456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Tag v0.5-s4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97680" y="5029200"/>
            <a:ext cx="7498079" cy="384048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70832" y="5102352"/>
            <a:ext cx="740664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16:00 démo finale · merge release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A6277"/>
                </a:solidFill>
                <a:latin typeface="Calibri"/>
              </a:rPr>
              <a:t>Démos en or : J5 (intermédiaire) · J10 (finale). Tag v0.5-s4 lundi 30/06.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Démos hebdo — format S2 / 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Screen-share live, 0 slide, 30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52144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Démo intermédiaire — J5 vendredi 20/06 16:00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9E795"/>
                </a:solidFill>
                <a:latin typeface="Calibri"/>
              </a:rPr>
              <a:t>S4.01 + S4.02 + S4.03 + S4.04 + début S4.05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521440" cy="1371600"/>
          </a:xfrm>
          <a:prstGeom prst="rect">
            <a:avLst/>
          </a:prstGeom>
          <a:solidFill>
            <a:srgbClr val="F8F8F8"/>
          </a:solidFill>
          <a:ln w="635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Live :
• /assistant chat live streaming Claude (1 conversation complète)
• /groupes : 3 cards portefeuille avec counts
• /projets : liste cross-groupe + filtre dropdown
• Première mesure latence p95 chat (cible &lt; 3 s first-token)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11521440" cy="5029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Démo finale — J10 vendredi 27/06 16:00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605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9E795"/>
                </a:solidFill>
                <a:latin typeface="Calibri"/>
              </a:rPr>
              <a:t>10/12 issues closes (S4.00 → S4.09) + S4.10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11521440" cy="13716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Live :
• 6 pages migrées toutes accessibles (assistant + groupes + projets + projet:id + contacts + decisions)
• Raccourci desktop double-clic ouvre cockpit
• npm test → ≥ 80 verts en &lt; 30 s
• Préparation tag v0.5-s4 (post-merge)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Top 5 risques — mitigation + déclencheur Plan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Auto-évaluation J3 + J6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" cy="411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801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188720"/>
            <a:ext cx="4114800" cy="411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28016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Risque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188720"/>
            <a:ext cx="1097280" cy="411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2352" y="1280160"/>
            <a:ext cx="1005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Proba/Impact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3200400" cy="411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280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188720"/>
            <a:ext cx="2926080" cy="41148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2801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Déclencheur Plan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00200"/>
            <a:ext cx="54864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69164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600200"/>
            <a:ext cx="411480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169164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Streaming SSE Claude bavard / latence p95 &gt; 30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600200"/>
            <a:ext cx="1097280" cy="777240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1691640"/>
            <a:ext cx="1005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Moy/P1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600200"/>
            <a:ext cx="320040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691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max_tokens 1500 + cap réponses + cache prompt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600200"/>
            <a:ext cx="292608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16916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dérive J3 → fallback non-streaming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377440"/>
            <a:ext cx="548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46888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3774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246888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Template projet.html paramétré perd pages legacy spécifiques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377440"/>
            <a:ext cx="1097280" cy="77724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2352" y="2468880"/>
            <a:ext cx="1005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F/P2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377440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4688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audit visuel J4 sur 3 projets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37744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0032" y="246888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écart UI &gt; 30 % → garder 2-3 pages dédiées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154680"/>
            <a:ext cx="54864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24612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154680"/>
            <a:ext cx="411480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32461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Recherche ?q= contacts trop lente (LIKE plein)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154680"/>
            <a:ext cx="109728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352" y="3246120"/>
            <a:ext cx="1005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F/P3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154680"/>
            <a:ext cx="320040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index FTS5 SQLite si besoin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154680"/>
            <a:ext cx="292608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32461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latence &gt; 500 ms → ajouter virtual table FTS5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931920"/>
            <a:ext cx="548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023359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9319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4023359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Raccourci desktop bloqué par GPO / antivirus ETIC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3931920"/>
            <a:ext cx="1097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02352" y="4023359"/>
            <a:ext cx="1005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Moy/P3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931920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9632" y="402335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whitelist user dossier Desktop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393192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00032" y="4023359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KO → page épinglée navigateur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709160"/>
            <a:ext cx="54864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480060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R5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4709160"/>
            <a:ext cx="411480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552" y="48006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SSE chat se déconnecte sur Zscaler après &gt;5 min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4709160"/>
            <a:ext cx="1097280" cy="77724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02352" y="4800600"/>
            <a:ext cx="1005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Moy/P2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4709160"/>
            <a:ext cx="320040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48006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heartbeat 25 s déjà en place (S2.10)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4709160"/>
            <a:ext cx="2926080" cy="77724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00032" y="48006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1A22"/>
                </a:solidFill>
                <a:latin typeface="Calibri"/>
              </a:rPr>
              <a:t>observation J6 → fallback long-polling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Budget S4 + cumul v0.5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22,1 k€ idem S2/S3 par construction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solidFill>
            <a:srgbClr val="2F3C7E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Poste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188720"/>
            <a:ext cx="1645920" cy="411480"/>
          </a:xfrm>
          <a:prstGeom prst="rect">
            <a:avLst/>
          </a:prstGeom>
          <a:solidFill>
            <a:srgbClr val="2F3C7E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2801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Jours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188720"/>
            <a:ext cx="1645920" cy="411480"/>
          </a:xfrm>
          <a:prstGeom prst="rect">
            <a:avLst/>
          </a:prstGeom>
          <a:solidFill>
            <a:srgbClr val="2F3C7E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2801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Taux €/j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1828800" cy="411480"/>
          </a:xfrm>
          <a:prstGeom prst="rect">
            <a:avLst/>
          </a:prstGeom>
          <a:solidFill>
            <a:srgbClr val="2F3C7E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2801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Coût (k€)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00200"/>
            <a:ext cx="50292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916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Dev1 (backend + tests + service)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600200"/>
            <a:ext cx="164592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16916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5,3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600200"/>
            <a:ext cx="164592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6916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1 050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1600200"/>
            <a:ext cx="18288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6916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5,57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011680"/>
            <a:ext cx="5029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1031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Dev2 (5 pages frontend)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0116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103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5,3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0116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103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1 050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0116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21031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5,57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23160"/>
            <a:ext cx="50292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5146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PMO (ADR + doc + recette)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2423160"/>
            <a:ext cx="164592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25146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0,8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423160"/>
            <a:ext cx="164592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5146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1 000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2423160"/>
            <a:ext cx="18288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25146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0,80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834640"/>
            <a:ext cx="5029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92608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22"/>
                </a:solidFill>
                <a:latin typeface="Calibri"/>
              </a:rPr>
              <a:t>Designer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8346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2926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0,5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0" y="28346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2926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1 000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28346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29260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1C1A22"/>
                </a:solidFill>
                <a:latin typeface="Calibri"/>
              </a:rPr>
              <a:t>0,50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246120"/>
            <a:ext cx="502920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3375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1A22"/>
                </a:solidFill>
                <a:latin typeface="Calibri"/>
              </a:rPr>
              <a:t>Sous-total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3246120"/>
            <a:ext cx="164592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32120" y="33375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1A22"/>
                </a:solidFill>
                <a:latin typeface="Calibri"/>
              </a:rPr>
              <a:t>11,9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246120"/>
            <a:ext cx="164592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78040" y="33375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1A22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3246120"/>
            <a:ext cx="182880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33375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1A22"/>
                </a:solidFill>
                <a:latin typeface="Calibri"/>
              </a:rPr>
              <a:t>12,44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657600"/>
            <a:ext cx="502920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749039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1A22"/>
                </a:solidFill>
                <a:latin typeface="Calibri"/>
              </a:rPr>
              <a:t>Marge contingence 10 %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3657600"/>
            <a:ext cx="164592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3749039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1A22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3657600"/>
            <a:ext cx="164592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78040" y="3749039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1A22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3657600"/>
            <a:ext cx="1828800" cy="411480"/>
          </a:xfrm>
          <a:prstGeom prst="rect">
            <a:avLst/>
          </a:prstGeom>
          <a:solidFill>
            <a:srgbClr val="F9E795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23960" y="374903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C1A22"/>
                </a:solidFill>
                <a:latin typeface="Calibri"/>
              </a:rPr>
              <a:t>1,24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480560"/>
            <a:ext cx="5029200" cy="411480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5720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S4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0" y="4480560"/>
            <a:ext cx="1645920" cy="411480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32120" y="45720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32320" y="4480560"/>
            <a:ext cx="1645920" cy="411480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78040" y="457200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240" y="4480560"/>
            <a:ext cx="1828800" cy="411480"/>
          </a:xfrm>
          <a:prstGeom prst="rect">
            <a:avLst/>
          </a:prstGeom>
          <a:solidFill>
            <a:srgbClr val="F96167"/>
          </a:solidFill>
          <a:ln w="6350">
            <a:solidFill>
              <a:srgbClr val="6A62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23960" y="45720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22,1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3C7E"/>
                </a:solidFill>
                <a:latin typeface="Calibri"/>
              </a:rPr>
              <a:t>Cumul v0.5 fin S4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Calibri"/>
              </a:rPr>
              <a:t>88,4 k€  /  110 k€  =  80 %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A6277"/>
                </a:solidFill>
                <a:latin typeface="Calibri"/>
              </a:rPr>
              <a:t>Reste 21,6 k€ pour S5 + S6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Critères de fin de sprint — 12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Vérifiables automatiquement (sauf §5 latence)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1. ADR S4.00 mergée dans DECISIONS.md avant J1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075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2. grep 'localStorage.X' sur 6 pages = 0 (sauf aiCEO.uiPrefs)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3. curl /{assistant,groupes,projets,projet?id=...,contacts,decisions} → 6/6 HTTP 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08483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4. POST /api/assistant/messages retourne stream SSE valide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6207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5. Latence p95 chat first-token &lt; 3 s, full-response &lt; 30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74320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86207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6. Recherche ?q= sur /contacts &lt; 200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0439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3931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7. Sélecteur groupe sur /projets filtre correctement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20439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63931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8. Pages /projet?id=... toutes fonctionnelles (10 IDs)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9768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1655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9. Raccourci desktop ouvre Edge/Chrome sur cockpit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29768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41655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10. npm test ≥ 80 verts (≥ 5 nouveaux)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7492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1937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11. Tests e2e back-office HTTP-boundary ≥ 4 verts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074920"/>
            <a:ext cx="566928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1937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1A22"/>
                </a:solidFill>
                <a:latin typeface="Calibri"/>
              </a:rPr>
              <a:t>12. docs/API.md enrichi de la section S4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3C7E"/>
                </a:solidFill>
                <a:latin typeface="Calibri"/>
              </a:rPr>
              <a:t>Tag v0.5-s4 → posable post-merge si 12/12 verts. Sinon → branche release reportée.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