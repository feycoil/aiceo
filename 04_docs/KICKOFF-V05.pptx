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Ventilation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7363"/>
              </a:solidFill>
              <a:effectLst/>
            </c:spPr>
          </c:dPt>
          <c:dPt>
            <c:idx val="1"/>
            <c:bubble3D val="0"/>
            <c:spPr>
              <a:solidFill>
                <a:srgbClr val="B88237"/>
              </a:solidFill>
              <a:effectLst/>
            </c:spPr>
          </c:dPt>
          <c:dPt>
            <c:idx val="2"/>
            <c:bubble3D val="0"/>
            <c:spPr>
              <a:solidFill>
                <a:srgbClr val="7790AE"/>
              </a:solidFill>
              <a:effectLst/>
            </c:spPr>
          </c:dPt>
          <c:dPt>
            <c:idx val="3"/>
            <c:bubble3D val="0"/>
            <c:spPr>
              <a:solidFill>
                <a:srgbClr val="D96D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4F0E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4F0E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4F0E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4F0E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Dev fullstack 2 ETP</c:v>
                </c:pt>
                <c:pt idx="1">
                  <c:v>Designer 0,3 ETP</c:v>
                </c:pt>
                <c:pt idx="2">
                  <c:v>PMO 0,3 ETP</c:v>
                </c:pt>
                <c:pt idx="3">
                  <c:v>Provision + Infra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81000</c:v>
                </c:pt>
                <c:pt idx="1">
                  <c:v>12150</c:v>
                </c:pt>
                <c:pt idx="2">
                  <c:v>12150</c:v>
                </c:pt>
                <c:pt idx="3">
                  <c:v>4700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405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v0.5</c:v>
                </c:pt>
              </c:strCache>
            </c:strRef>
          </c:tx>
          <c:spPr>
            <a:solidFill>
              <a:srgbClr val="3D73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mai 26</c:v>
                  </c:pt>
                  <c:pt idx="1">
                    <c:v>juin 26</c:v>
                  </c:pt>
                  <c:pt idx="2">
                    <c:v>juil 26</c:v>
                  </c:pt>
                  <c:pt idx="3">
                    <c:v>août 26</c:v>
                  </c:pt>
                  <c:pt idx="4">
                    <c:v>sept 26</c:v>
                  </c:pt>
                  <c:pt idx="5">
                    <c:v>oct 26</c:v>
                  </c:pt>
                  <c:pt idx="6">
                    <c:v>nov 26</c:v>
                  </c:pt>
                  <c:pt idx="7">
                    <c:v>déc 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31400</c:v>
                </c:pt>
                <c:pt idx="1">
                  <c:v>43750</c:v>
                </c:pt>
                <c:pt idx="2">
                  <c:v>34751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 (cond.)</c:v>
                </c:pt>
              </c:strCache>
            </c:strRef>
          </c:tx>
          <c:spPr>
            <a:solidFill>
              <a:srgbClr val="7790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mai 26</c:v>
                  </c:pt>
                  <c:pt idx="1">
                    <c:v>juin 26</c:v>
                  </c:pt>
                  <c:pt idx="2">
                    <c:v>juil 26</c:v>
                  </c:pt>
                  <c:pt idx="3">
                    <c:v>août 26</c:v>
                  </c:pt>
                  <c:pt idx="4">
                    <c:v>sept 26</c:v>
                  </c:pt>
                  <c:pt idx="5">
                    <c:v>oct 26</c:v>
                  </c:pt>
                  <c:pt idx="6">
                    <c:v>nov 26</c:v>
                  </c:pt>
                  <c:pt idx="7">
                    <c:v>déc 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57500</c:v>
                </c:pt>
                <c:pt idx="4">
                  <c:v>72500</c:v>
                </c:pt>
                <c:pt idx="5">
                  <c:v>72500</c:v>
                </c:pt>
                <c:pt idx="6">
                  <c:v>58500</c:v>
                </c:pt>
                <c:pt idx="7">
                  <c:v>29000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AE0"/>
              </a:solidFill>
              <a:prstDash val="solid"/>
              <a:round/>
            </a:ln>
          </c:spPr>
        </c:majorGridlines>
        <c:numFmt formatCode="#,##0 &quot;€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2405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7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B8823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D96D3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spc="400" kern="0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aiCEO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— fusion app-web ↔ MVP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37160" cy="1280160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08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sprint 1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110 k€  ·  10 semaines  ·  démarrage 5 mai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5394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ETIC Services · Porteur projet aiCEO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 ETIC interne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attendue · 4 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décision en 1 minute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l'ExCom est appelé à arbitrer le 4 mai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5200" cy="4114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05200" cy="109728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4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Engager v0.5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5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app-web Twisty (13 pages) ↔ MVP Node Express en un produit unifié, hébergé localement sur le PC du CEO via Service Windows.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1737360"/>
            <a:ext cx="3505200" cy="4114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737360"/>
            <a:ext cx="3505200" cy="109728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205740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02480" y="24231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4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 k€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2480" y="3291840"/>
            <a:ext cx="295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k€ dev (2,6 ETP × 10 sem × 900 €/j) + 1 k€ infra LLM/CI + 4 k€ provision risque. Source : fonds propres ETIC, pas de tour externe.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7680" y="1737360"/>
            <a:ext cx="3505200" cy="4114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7680" y="1737360"/>
            <a:ext cx="3505200" cy="109728"/>
          </a:xfrm>
          <a:prstGeom prst="rect">
            <a:avLst/>
          </a:prstGeom>
          <a:solidFill>
            <a:srgbClr val="7790AE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05740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82000" y="24231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4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mai → 14 juil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82000" y="3291840"/>
            <a:ext cx="295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semaines, 6 sprints (2-2-2-2-1-1). Tag v0.5 mi-juillet 2026. Décision V1 (290 k€) déclenchée en T3 2026.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949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recommandé : </a:t>
            </a:r>
            <a:pPr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</a:t>
            </a:r>
            <a:pPr indent="0" marL="0">
              <a:buNone/>
            </a:pPr>
            <a:r>
              <a:rPr lang="en-US" sz="12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les 5 critères §3.1 du dossier sont atteignables avant le 4 mai. Risques connus mitigés. Fenêtre marché LLM-mature à saisir.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: pourquoi v0.5 maintenant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chaînes de raisonnement convergentes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9728" cy="118872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4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copilote a fait ses preuves en v0.4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28/28 tâches arbitrées en 41 s pour ≈ 1 ct/jour. Boucle matin/soir + délégation utilisée en dogfood quotidien depuis le 22 avril. Le concept est validé. Mais l'app reste prisonnière d'une architecture à deux têtes.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09728" cy="1188720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4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L'architecture à deux têtes coûte chaque semaine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App-web Twisty (localStorage + 21 pages) ↔ MVP Node (JSON + flux IA) — duplication, double source de vérité, double maintenance. Sans fusion, V1 cloud devient impossible (rebuild × 2).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9728" cy="1188720"/>
          </a:xfrm>
          <a:prstGeom prst="rect">
            <a:avLst/>
          </a:prstGeom>
          <a:solidFill>
            <a:srgbClr val="7790A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4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fenêtre LLM-mature 2026 ne reste pas ouverte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/ GPT-5 / Gemini 2.5 — l'écart entre raisonnement contextuel et chat générique se referme. Les CEO PME français cherchent une alternative souveraine au SaaS US. Saisir maintenant ou laisser passer.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v0.5 — 13 pages cibles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21 → 13 (−38 %), un seul produit, un seul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v0.5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4114800"/>
          </a:xfrm>
          <a:prstGeom prst="rect">
            <a:avLst/>
          </a:prstGeom>
          <a:solidFill>
            <a:srgbClr val="FAED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App-web Twisty (vanilla JS)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21 pages · localStorage · pas de backend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Cockpit lecture seule · pas de persistance serveur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Node Express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pages flux IA · JSON files · serveur localhost:3001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Arbitrage matinal Claude · pas d'UI lecture transverse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utilisateur 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Tâche créée dans MVP non visible dans Twisty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Décisions saisies à 2 endroits, pas de source unique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Pas d'agenda/contacts dans MVP, pas d'IA dans Twisty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Doublons, deux sources de vérité, dette structurelle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v0.5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03520" cy="4114800"/>
          </a:xfrm>
          <a:prstGeom prst="rect">
            <a:avLst/>
          </a:prstGeom>
          <a:solidFill>
            <a:srgbClr val="E5EBE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/ rituels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· arbitrage · evening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/ agenda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 · agenda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hebdo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3191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· decisions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/ projets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4325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· projets · projet/:id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chat 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892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(WebSocket)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produit · 1 stack · SQLite 13 tables · Service Windows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10 semaines · 6 sprints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mai 2026 → 14 juillet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05/05 → 18/05  ·  2 sem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SQLite 13 tables · migrations · API tasks/decisions/contacts/projects/groups · script migrate-from-appweb.js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640080" cy="64008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19/05 → 01/06  ·  2 sem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24505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unifié + arbitrage.html + evening.html sur API · flux matin/soir stables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640080" cy="640080"/>
          </a:xfrm>
          <a:prstGeom prst="rect">
            <a:avLst/>
          </a:prstGeom>
          <a:solidFill>
            <a:srgbClr val="B8823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63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163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 → 15/06  ·  2 sem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16382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+ agenda + revues migrées · retrait localStorage · spike WebSocket pour Sprint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640080" cy="640080"/>
          </a:xfrm>
          <a:prstGeom prst="rect">
            <a:avLst/>
          </a:prstGeom>
          <a:solidFill>
            <a:srgbClr val="B8823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877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97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16/06 → 29/06  ·  2 sem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8770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+ projets + template + contacts + décisions + assistant chat live (WebSocket)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640080" cy="640080"/>
          </a:xfrm>
          <a:prstGeom prst="rect">
            <a:avLst/>
          </a:prstGeom>
          <a:solidFill>
            <a:srgbClr val="7790A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90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4590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910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 → 06/07  ·  1 sem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459028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 (node-windows) · raccourci desktop · tests Playwright 3 flux · CI verte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solidFill>
            <a:srgbClr val="7A6A8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Scellement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 → 14/07  ·  1 sem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5303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v0.5 · release notes internes · rétro sprint · ajustement rituels Feycoil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— Fondation (5 → 18 mai)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sprint qui débloque tous les autres : schéma + API + migration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SQLite 13 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projects, tasks, decisions, contacts, weeks, big_rocks, sessions, mails, agenda_events, deleg, audit, _migrations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828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versionnées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type Knex/manuel : table _migrations versionnée, scripts up/down, tests d'intégrité avant chaque migration en prod-like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828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5 ressources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decisions · contacts · projects · groups — CRUD complet avec validation Zod, pagination, filtres, tests Vitest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349240" cy="182880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37960" y="4526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migrate-from-appweb.js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8920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data.js (ES module) → mappe vers schéma SQLite → écrit en transaction unique. Idempotent, vérification post-migration check-migration.js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035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S1 :  </a:t>
            </a:r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créées, 5 ressources API testées (couverture ≥ 70 %), migration data.js → SQLite réussie sur 1 jeu réel, CI lint+unit verte.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 v0.5 — 2,6 ETP sur 10 semaines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freelance senior + dogfood CEO interne (non budgété)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914400" cy="91440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fullstack #1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better-sqlite3 · vanilla JS · tests Vitest · contrat freelance senior 900 €/j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965960"/>
            <a:ext cx="914400" cy="91440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35240" y="2057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fullstack #2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24688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better-sqlite3 · WebSocket · Playwright e2e · contrat freelance senior 900 €/j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977640"/>
            <a:ext cx="914400" cy="914400"/>
          </a:xfrm>
          <a:prstGeom prst="ellipse">
            <a:avLst/>
          </a:prstGeom>
          <a:solidFill>
            <a:srgbClr val="B8823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77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44805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DS Twisty sur pages migrées · pas de création nouvelle · ratio horaire DS Agency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3977640"/>
            <a:ext cx="914400" cy="914400"/>
          </a:xfrm>
          <a:prstGeom prst="ellipse">
            <a:avLst/>
          </a:prstGeom>
          <a:solidFill>
            <a:srgbClr val="7790AE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977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53796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3524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(Major Fey)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44805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sprints · GitHub Issues · jalons go/no-go · arbitrage scope creep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52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Major Fey en dogfood quotidien (matin/soir sur v0.5 dès Sprint 2) </a:t>
            </a:r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budgété (charge interne ETIC) — sert de tracker UX réel et de boucle de feedback continue.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financier · 110 k€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95,7 % dev (105,3 k€) · 4,3 % provision + infra (4,7 k€) · 100 % fonds propres ETIC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5029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financement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2194560"/>
            <a:ext cx="5943600" cy="41148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propres ETIC Services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89920" y="2194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5943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externe (BA / VC)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0" y="2651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k€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89920" y="2651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3108960"/>
            <a:ext cx="5943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 publique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789920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5216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(cf. POA-V05.xlsx onglet 3)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4297680"/>
            <a:ext cx="5943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(release rapide)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95 k€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−14 %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52160" y="4754880"/>
            <a:ext cx="5943600" cy="41148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(plan nominal)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01200" y="4754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110 k€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78992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2160" y="5212080"/>
            <a:ext cx="5943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0" y="5212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(rattrapage S4 +1 incident)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601200" y="5212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134 k€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789920" y="5212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+22 %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52160" y="5852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ExCom mid-sprint 3 si décaissement cumulé &gt; 80 k€ (≈ vers worst)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Trésorerie · décaissements mensuels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v0.5 sur juin (43,7 k€) · cumul 12 mois ≈ 400 k€ si V1 enchaîné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: </a:t>
            </a:r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freelance à terme échu (M+1). Sprint 1-2 démarrés mai → paiement mai = 1 mois équipe. </a:t>
            </a:r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conditionnel à GO V1 fin juillet — démarrage prévu août 2026.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POA‑V05.xlsx — onglet 2-Trésorerie.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Critères GO / NO-GO 110 k€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Formels, cumulatifs côté GO · un seul suffit côté NO-GO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solidFill>
            <a:srgbClr val="EAF2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· 5 conditions cumulatives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320040" cy="32004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 confirme ≥ 110 k€ disponibles mai-juil 2026 (DAF avant 30/04)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320040" cy="32004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sourcée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 fullstack engagés, contrats signés avant 02/05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320040" cy="32004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figé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 cibles + 40+ endpoints API validés sans amendement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320040" cy="32004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partagée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 souscrit à « v0.5 = pont jetable nécessaire » (~30 % code jetable en V1)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5532120"/>
            <a:ext cx="320040" cy="320040"/>
          </a:xfrm>
          <a:prstGeom prst="ellipse">
            <a:avLst/>
          </a:prstGeom>
          <a:solidFill>
            <a:srgbClr val="3D736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scellement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5760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9 critères §3.3 acceptés comme grille de validation tag v0.5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solidFill>
            <a:srgbClr val="FAEDE3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 · 1 condition suffit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2423160"/>
            <a:ext cx="320040" cy="320040"/>
          </a:xfrm>
          <a:prstGeom prst="ellipse">
            <a:avLst/>
          </a:prstGeom>
          <a:solidFill>
            <a:srgbClr val="D96D3E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indisponible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110 k€ sur la période, sans solution de pont identifiée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3383280"/>
            <a:ext cx="320040" cy="320040"/>
          </a:xfrm>
          <a:prstGeom prst="ellipse">
            <a:avLst/>
          </a:prstGeom>
          <a:solidFill>
            <a:srgbClr val="D96D3E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dev impossible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candidat au 02/05 + glissement à 19/05 inacceptable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7960" y="4343400"/>
            <a:ext cx="320040" cy="320040"/>
          </a:xfrm>
          <a:prstGeom prst="ellipse">
            <a:avLst/>
          </a:prstGeom>
          <a:solidFill>
            <a:srgbClr val="D96D3E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marché perdue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Anthropic/GPT-5 commodity → repositionnement préalable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5303520"/>
            <a:ext cx="320040" cy="320040"/>
          </a:xfrm>
          <a:prstGeom prst="ellipse">
            <a:avLst/>
          </a:prstGeom>
          <a:solidFill>
            <a:srgbClr val="D96D3E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5303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9516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RGPD bloquant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5532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d'un risque structurel sur l'architecture v0.5 locale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Critères de scellement v0.5 (tag mi-juillet)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conditions objectives · validation collective ExCom + Major Fey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 cibles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accessibles à http://localhost:3001/*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73736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localStorage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paramètres UI légers tolérés (themes, etc.)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73736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+ soir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Stables 5/5 jours ouvrés sur 3 semaines consécutives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15468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≥ 80 % · soir ≥ 70 % des jours ouvrés (tracking)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15468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15468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check-migration.js vert, zéro perte de données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15468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315468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239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auto + redémarrage après crash simulé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57200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2588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vert : arbitrage · délégation · soir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457200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40" name="Shape 38"/>
          <p:cNvSpPr/>
          <p:nvPr/>
        </p:nvSpPr>
        <p:spPr>
          <a:xfrm>
            <a:off x="4297680" y="457200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41" name="Text 39"/>
          <p:cNvSpPr/>
          <p:nvPr/>
        </p:nvSpPr>
        <p:spPr>
          <a:xfrm>
            <a:off x="448056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7492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8056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lint + unit + audit, sans warning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46720" y="4572000"/>
            <a:ext cx="3566160" cy="12801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45" name="Shape 43"/>
          <p:cNvSpPr/>
          <p:nvPr/>
        </p:nvSpPr>
        <p:spPr>
          <a:xfrm>
            <a:off x="8046720" y="4572000"/>
            <a:ext cx="54864" cy="128016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82396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incident sur sprint 6 (fuite clé, prompt injection)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tag v0.5 </a:t>
            </a:r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le dossier go/no-go V1 (290 k€) en T3 2026.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risques · mitigations actées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complète dans DOSSIER-GO-NOGO-V05.md §5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640080" cy="1325880"/>
          </a:xfrm>
          <a:prstGeom prst="rect">
            <a:avLst/>
          </a:prstGeom>
          <a:solidFill>
            <a:srgbClr val="3D73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jetable v0.5 (accepté)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· </a:t>
            </a:r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~30 % du code v0.5 (PowerShell COM, Service Windows) sera ré-écrit en V1 cloud.  </a:t>
            </a:r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SQLite conçu pour migrer 1:1 vers Postgres · couche services/outlook.js abstrayée · 70 % du code capitalisé (modèle, API, cockpit, prompts).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640080" cy="1325880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équipe sous tension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· </a:t>
            </a:r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fullstack senior Node + SQL à 900 €/j en France ne sont pas une commodity. Sourcing tendu.  </a:t>
            </a:r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ETIC + Twisty Agency activé depuis 18/04 · Plan B : 1 senior + 1 medium 600 €/j (−12 % capacité) · Plan C : décaler S1 à 19/05 (−11 k€).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663440"/>
            <a:ext cx="640080" cy="1325880"/>
          </a:xfrm>
          <a:prstGeom prst="rect">
            <a:avLst/>
          </a:prstGeom>
          <a:solidFill>
            <a:srgbClr val="B8823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6344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800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Sprint 4 (chat WebSocket)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1663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· </a:t>
            </a:r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dense · WebSocket jamais éprouvé sur stack v0.4 · spike technique nécessaire.  </a:t>
            </a:r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Sprint 2 (3 j coût marginal nul) · Plan B polling AJAX si spike négatif · provision 15 % couvre +2 sem au pire.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contingence · si NO-GO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 pré-cadrés pour ne pas improviser le 5 mai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solidFill>
            <a:srgbClr val="B882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Différer 3 mois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court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indisponible immédiatement, mais accessible à T3 2026.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→ 04/08 · tag v0.5 → 13/10 · décalage cascade vers V1/V2/SOC2.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k€ maintenance v0.4 + 18-25 k€ dette technique cumulée.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737360"/>
            <a:ext cx="3566160" cy="640080"/>
          </a:xfrm>
          <a:prstGeom prst="rect">
            <a:avLst/>
          </a:prstGeom>
          <a:solidFill>
            <a:srgbClr val="B882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Périmètre réduit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partiel · ~75 k€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limitée à 70-80 k€, mais ExCom souhaite avancer.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40233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1-3 + 5-6 conservés, sprint 4 reporté en V1. Produit reste à 2 têtes sur 30 % périmètre.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scellement 6/9 atteignables · décision V1 plus lourde.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7373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737360"/>
            <a:ext cx="3566160" cy="640080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Abandon plateforme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7532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terminal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532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 estime que la trajectoire 1,69 M€ sur 18 mois n'est plus stratégiquement souhaitable.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753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40233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maintenue en outil interne Major Fey · dossier archivé R&amp;D · IP conservée.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7532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coût immédiat · perte 45-65 k€/an de gain CEO V1+ projeté.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92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KICKOFF · ExCom interne · 25/04/2026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92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7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recommandé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4F0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· 110 k€ · 5 mai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37160" cy="914400"/>
          </a:xfrm>
          <a:prstGeom prst="rect">
            <a:avLst/>
          </a:prstGeom>
          <a:solidFill>
            <a:srgbClr val="D96D3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critères §3.1 du dossier sont atteignables avant le 4 mai. Risques connus mitigés. Fenêtre marché LLM-mature à saisir. Trajectoire 18 mois cohérente avec stratégie ETIC Services.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(10 jours)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91440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 valide trésorerie ≥ 110 k€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91440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2 dev fullstack confirmé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5349240"/>
            <a:ext cx="91440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349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freelance signés · branche release/v0.5 créée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4343400"/>
            <a:ext cx="91440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 décision GO/NO-GO · ADR rédigé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4846320"/>
            <a:ext cx="914400" cy="365760"/>
          </a:xfrm>
          <a:prstGeom prst="rect">
            <a:avLst/>
          </a:prstGeom>
          <a:solidFill>
            <a:srgbClr val="F4F0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sprint 1 · 09:00 · démarrage technique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· 25 avril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aiCEO v0.5 — Kickoff sprint 1</dc:title>
  <dc:subject>PptxGenJS Presentation</dc:subject>
  <dc:creator>Major Fey · ETIC Services</dc:creator>
  <cp:lastModifiedBy>Major Fey · ETIC Services</cp:lastModifiedBy>
  <cp:revision>1</cp:revision>
  <dcterms:created xsi:type="dcterms:W3CDTF">2026-04-25T05:41:06Z</dcterms:created>
  <dcterms:modified xsi:type="dcterms:W3CDTF">2026-04-25T05:41:06Z</dcterms:modified>
</cp:coreProperties>
</file>