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194560"/>
            <a:ext cx="7315200" cy="7315200"/>
          </a:xfrm>
          <a:prstGeom prst="ellipse">
            <a:avLst/>
          </a:prstGeom>
          <a:solidFill>
            <a:srgbClr val="6A4F91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5029200" cy="5029200"/>
          </a:xfrm>
          <a:prstGeom prst="ellipse">
            <a:avLst/>
          </a:prstGeom>
          <a:solidFill>
            <a:srgbClr val="E8604C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— description &amp; fonctionnalités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copilote exécutif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B89B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 arbitre, délègue et vous rend vos soirées.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5303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en marche</a:t>
            </a:r>
            <a:pPr indent="0" marL="0">
              <a:buNone/>
            </a:pPr>
            <a:r>
              <a:rPr lang="en-US" sz="13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</a:t>
            </a:r>
            <a:pPr indent="0" marL="0">
              <a:buNone/>
            </a:pPr>
            <a:r>
              <a:rPr lang="en-US" sz="130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28/28 tâches classées</a:t>
            </a:r>
            <a:pPr indent="0" marL="0">
              <a:buNone/>
            </a:pPr>
            <a:r>
              <a:rPr lang="en-US" sz="13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</a:t>
            </a:r>
            <a:pPr indent="0" marL="0">
              <a:buNone/>
            </a:pPr>
            <a:r>
              <a:rPr lang="en-US" sz="130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926 mails injectés</a:t>
            </a:r>
            <a:pPr indent="0" marL="0">
              <a:buNone/>
            </a:pPr>
            <a:r>
              <a:rPr lang="en-US" sz="13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</a:t>
            </a:r>
            <a:pPr indent="0" marL="0">
              <a:buNone/>
            </a:pPr>
            <a:r>
              <a:rPr lang="en-US" sz="130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 en réel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Feycoil Mouhoussoune · CEO ETIC Services · 24 avril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AICEO EXISTE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jour où vous portez 40 dossiers, vous ne pouvez plus tout tenir.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réalité actuelle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09728" cy="10972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dossiers actifs en parallèle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sociétés (ADABU · AMANI · ETIC), des mandats SCI, mission Mayotte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109728" cy="10972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017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déborde, tout a l'air urgent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337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vraies urgences se noient dans le bruit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109728" cy="10972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931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 à déléguer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251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 à tout porter soi-même, pas le temps de rédiger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983480"/>
            <a:ext cx="109728" cy="10972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846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Pensée visuelle non servie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5166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outils classiques alignent des bullets, pas des arbitrages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645920"/>
            <a:ext cx="5486400" cy="4572000"/>
          </a:xfrm>
          <a:prstGeom prst="roundRect">
            <a:avLst>
              <a:gd name="adj" fmla="val 2400"/>
            </a:avLst>
          </a:prstGeom>
          <a:solidFill>
            <a:srgbClr val="F1ECF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874520"/>
            <a:ext cx="457200" cy="4572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040880" y="1874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virage aiCEO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92240" y="24688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1E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 un dashboard de plus.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6492240" y="32004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copilote qui décide avec vous — chaque matin, regarde tout le plat : tâches ouvertes, échéances, mails en retard, énergie du jour. Puis propose un plan en 3 colonnes : ce que vous faites, ce qui part aujourd'hui, ce qui peut glisser sans casse.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492240" y="53949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</a:t>
            </a:r>
            <a:pPr indent="0" marL="0">
              <a:buNone/>
            </a:pPr>
            <a:r>
              <a:rPr lang="en-US" sz="1300" i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rendre une heure de décision claire par jour, et vos soirées.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MVP · v0.4 · 24 avril 2026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DU PROTOTYPE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le MVP sait faire dès aujourd'hui.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flux cousus en un cycle quotidien, 100 % local sur votre poste, Claude en renfort quand il faut arbitrer.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611880" cy="4297680"/>
          </a:xfrm>
          <a:prstGeom prst="roundRect">
            <a:avLst>
              <a:gd name="adj" fmla="val 3038"/>
            </a:avLst>
          </a:prstGeom>
          <a:solidFill>
            <a:srgbClr val="F8F1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468880"/>
            <a:ext cx="822960" cy="822960"/>
          </a:xfrm>
          <a:prstGeom prst="ellipse">
            <a:avLst/>
          </a:prstGeom>
          <a:solidFill>
            <a:srgbClr val="E8604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6517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0240" y="2514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920240" y="2834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Arbitrage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14400" y="3566160"/>
            <a:ext cx="2880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lit toutes vos tâches ouvertes + vos mails des 30 derniers jours, puis propose :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(3 max)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DÉLÉGUER (2 max)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 (tout le reste)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item a une raison en 1 phrase.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80560" y="2103120"/>
            <a:ext cx="3611880" cy="4297680"/>
          </a:xfrm>
          <a:prstGeom prst="roundRect">
            <a:avLst>
              <a:gd name="adj" fmla="val 3038"/>
            </a:avLst>
          </a:prstGeom>
          <a:solidFill>
            <a:srgbClr val="F8F1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2468880"/>
            <a:ext cx="822960" cy="822960"/>
          </a:xfrm>
          <a:prstGeom prst="ellipse">
            <a:avLst/>
          </a:prstGeom>
          <a:solidFill>
            <a:srgbClr val="E8604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65176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852160" y="2514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JOURNÉE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852160" y="2834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Délégation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4846320" y="3566160"/>
            <a:ext cx="2880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chaque tâche déléguée, un clic génère un brouillon de mail prêt à envoyer :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destinataire = interne (assistante)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reprend le fil email original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placeholders [À VÉRIFIER : xxx] pour ce qui reste à confirmer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412480" y="2103120"/>
            <a:ext cx="3611880" cy="4297680"/>
          </a:xfrm>
          <a:prstGeom prst="roundRect">
            <a:avLst>
              <a:gd name="adj" fmla="val 3038"/>
            </a:avLst>
          </a:prstGeom>
          <a:solidFill>
            <a:srgbClr val="F8F1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778240" y="2468880"/>
            <a:ext cx="822960" cy="822960"/>
          </a:xfrm>
          <a:prstGeom prst="ellipse">
            <a:avLst/>
          </a:prstGeom>
          <a:solidFill>
            <a:srgbClr val="E8604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265176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784080" y="2514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SOIR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9784080" y="2834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Debrief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8778240" y="3566160"/>
            <a:ext cx="2880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en fin de journée :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Fait / Partiel / Pas fait par tâche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humeur + note facultative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signal saturation si &gt; 70 % non fait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Alimente la mémoire du copilote.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MVP · v0.4 · 24 avril 2026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LE CAPOT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stack légère, tout reste sur votre poste.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3291840" cy="3840480"/>
          </a:xfrm>
          <a:prstGeom prst="roundRect">
            <a:avLst>
              <a:gd name="adj" fmla="val 3333"/>
            </a:avLst>
          </a:prstGeom>
          <a:solidFill>
            <a:srgbClr val="F1ECF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194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LOCALES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seed.json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898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+ projets + contacts + événements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31729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emails-raw.json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37413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Outlook 30 jours (COM · PS1)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364845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emails.json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84962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filtré + projet inféré (bruit retiré)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412394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team.json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32511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interne pour routage délégation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45994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decisions.json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8006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arbitrages validés chaque matin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50749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evenings.json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527608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debriefs du soir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0" y="2011680"/>
            <a:ext cx="3931920" cy="3840480"/>
          </a:xfrm>
          <a:prstGeom prst="roundRect">
            <a:avLst>
              <a:gd name="adj" fmla="val 2857"/>
            </a:avLst>
          </a:prstGeom>
          <a:solidFill>
            <a:srgbClr val="F8F1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2194560"/>
            <a:ext cx="365760" cy="3657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754880" y="22128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NODE · EXPRESS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34340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60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server.js · port 4747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343400" y="3063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/api/arbitrage      matin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343400" y="3364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/api/delegate       brouillon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343400" y="3666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/api/delegate/save  archive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343400" y="39684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/api/decide         persister plan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343400" y="4270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/api/evening        debrief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343400" y="4572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/api/emails/summary stats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343400" y="5303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src/prompt.js  ·  llm.js  ·  drafts.js  ·  emails-context.js  ·  evening.js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321040" y="2011680"/>
            <a:ext cx="3291840" cy="3840480"/>
          </a:xfrm>
          <a:prstGeom prst="roundRect">
            <a:avLst>
              <a:gd name="adj" fmla="val 3333"/>
            </a:avLst>
          </a:prstGeom>
          <a:solidFill>
            <a:srgbClr val="FCEAE3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2194560"/>
            <a:ext cx="365760" cy="36576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8961120" y="22128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8549640" y="2651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HTTPS + proxy corp si besoin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8549640" y="310896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appels par jour :
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× arbitrage  (~5k in / 2.5k out)
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× brouillons (~1k in / 500 out)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8549640" y="4754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quotidien : </a:t>
            </a:r>
            <a:pPr indent="0" marL="0">
              <a:buNone/>
            </a:pPr>
            <a:r>
              <a:rPr lang="en-US" sz="12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1,5 ct / jour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8549640" y="5120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démo sans clé API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(UI complète, arbitrages pré-bakés)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3886200" y="3749040"/>
            <a:ext cx="182880" cy="182880"/>
          </a:xfrm>
          <a:prstGeom prst="rtTriangle">
            <a:avLst/>
          </a:prstGeom>
          <a:solidFill>
            <a:srgbClr val="E8604C"/>
          </a:solidFill>
          <a:ln/>
        </p:spPr>
      </p:sp>
      <p:sp>
        <p:nvSpPr>
          <p:cNvPr id="38" name="Shape 34"/>
          <p:cNvSpPr/>
          <p:nvPr/>
        </p:nvSpPr>
        <p:spPr>
          <a:xfrm>
            <a:off x="8092440" y="3749040"/>
            <a:ext cx="182880" cy="182880"/>
          </a:xfrm>
          <a:prstGeom prst="rtTriangle">
            <a:avLst/>
          </a:prstGeom>
          <a:solidFill>
            <a:srgbClr val="E8604C"/>
          </a:solidFill>
          <a:ln/>
        </p:spPr>
      </p:sp>
      <p:sp>
        <p:nvSpPr>
          <p:cNvPr id="39" name="Text 35"/>
          <p:cNvSpPr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privées : seules les tâches + stats mail agrégées sortent du poste. Aucun mail complet n'est envoyé à Claude.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MVP · v0.4 · 24 avril 2026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1 · ARBITRAGE MATINAL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colonnes, 1 phrase par décision, 0 tâche perdue.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3703320" cy="44805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3703320" cy="640080"/>
          </a:xfrm>
          <a:prstGeom prst="rect">
            <a:avLst/>
          </a:prstGeom>
          <a:solidFill>
            <a:srgbClr val="E8604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29000" y="1828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77240" y="2651760"/>
            <a:ext cx="54864" cy="685800"/>
          </a:xfrm>
          <a:prstGeom prst="rect">
            <a:avLst/>
          </a:prstGeom>
          <a:solidFill>
            <a:srgbClr val="E8604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517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Virement Franklin honoraires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95351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matin · 10 min · critical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3538728"/>
            <a:ext cx="54864" cy="685800"/>
          </a:xfrm>
          <a:prstGeom prst="rect">
            <a:avLst/>
          </a:prstGeom>
          <a:solidFill>
            <a:srgbClr val="E8604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387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Virement Affejee (3ᵉ relance)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8404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matin · 10 min · critical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4425696"/>
            <a:ext cx="54864" cy="685800"/>
          </a:xfrm>
          <a:prstGeom prst="rect">
            <a:avLst/>
          </a:prstGeom>
          <a:solidFill>
            <a:srgbClr val="E8604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425696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Signer Attestation notaire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72744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matin · 20 min · high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80560" y="1783080"/>
            <a:ext cx="3703320" cy="44805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80560" y="1783080"/>
            <a:ext cx="3703320" cy="640080"/>
          </a:xfrm>
          <a:prstGeom prst="rect">
            <a:avLst/>
          </a:prstGeom>
          <a:solidFill>
            <a:srgbClr val="6A4F91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8745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DÉLÉGUER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60920" y="1828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4709160" y="2651760"/>
            <a:ext cx="54864" cy="685800"/>
          </a:xfrm>
          <a:prstGeom prst="rect">
            <a:avLst/>
          </a:prstGeom>
          <a:solidFill>
            <a:srgbClr val="6A4F91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6517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 CA Bretagne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295351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Sikina · brouillon prêt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538728"/>
            <a:ext cx="54864" cy="685800"/>
          </a:xfrm>
          <a:prstGeom prst="rect">
            <a:avLst/>
          </a:prstGeom>
          <a:solidFill>
            <a:srgbClr val="6A4F91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5387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date BREEAM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38404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Lamiae · 1 ligne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412480" y="1783080"/>
            <a:ext cx="3703320" cy="44805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12480" y="1783080"/>
            <a:ext cx="3703320" cy="640080"/>
          </a:xfrm>
          <a:prstGeom prst="rect">
            <a:avLst/>
          </a:prstGeom>
          <a:solidFill>
            <a:srgbClr val="E8B54C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0" y="18745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292840" y="1828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2600" dirty="0"/>
          </a:p>
        </p:txBody>
      </p:sp>
      <p:sp>
        <p:nvSpPr>
          <p:cNvPr id="32" name="Shape 30"/>
          <p:cNvSpPr/>
          <p:nvPr/>
        </p:nvSpPr>
        <p:spPr>
          <a:xfrm>
            <a:off x="8641080" y="2651760"/>
            <a:ext cx="54864" cy="685800"/>
          </a:xfrm>
          <a:prstGeom prst="rect">
            <a:avLst/>
          </a:prstGeom>
          <a:solidFill>
            <a:srgbClr val="E8B54C"/>
          </a:solidFill>
          <a:ln/>
        </p:spPr>
      </p:sp>
      <p:sp>
        <p:nvSpPr>
          <p:cNvPr id="33" name="Text 31"/>
          <p:cNvSpPr/>
          <p:nvPr/>
        </p:nvSpPr>
        <p:spPr>
          <a:xfrm>
            <a:off x="8778240" y="26517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 FF&amp;E — relecture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778240" y="295351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25/04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641080" y="3538728"/>
            <a:ext cx="54864" cy="685800"/>
          </a:xfrm>
          <a:prstGeom prst="rect">
            <a:avLst/>
          </a:prstGeom>
          <a:solidFill>
            <a:srgbClr val="E8B54C"/>
          </a:solidFill>
          <a:ln/>
        </p:spPr>
      </p:sp>
      <p:sp>
        <p:nvSpPr>
          <p:cNvPr id="36" name="Text 34"/>
          <p:cNvSpPr/>
          <p:nvPr/>
        </p:nvSpPr>
        <p:spPr>
          <a:xfrm>
            <a:off x="8778240" y="35387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Octroi de mer AMANI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778240" y="38404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28/04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641080" y="4425696"/>
            <a:ext cx="54864" cy="685800"/>
          </a:xfrm>
          <a:prstGeom prst="rect">
            <a:avLst/>
          </a:prstGeom>
          <a:solidFill>
            <a:srgbClr val="E8B54C"/>
          </a:solidFill>
          <a:ln/>
        </p:spPr>
      </p:sp>
      <p:sp>
        <p:nvSpPr>
          <p:cNvPr id="39" name="Text 37"/>
          <p:cNvSpPr/>
          <p:nvPr/>
        </p:nvSpPr>
        <p:spPr>
          <a:xfrm>
            <a:off x="8778240" y="4425696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FEDER Mayotte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778240" y="472744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30/04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641080" y="5312664"/>
            <a:ext cx="54864" cy="685800"/>
          </a:xfrm>
          <a:prstGeom prst="rect">
            <a:avLst/>
          </a:prstGeom>
          <a:solidFill>
            <a:srgbClr val="E8B54C"/>
          </a:solidFill>
          <a:ln/>
        </p:spPr>
      </p:sp>
      <p:sp>
        <p:nvSpPr>
          <p:cNvPr id="42" name="Text 40"/>
          <p:cNvSpPr/>
          <p:nvPr/>
        </p:nvSpPr>
        <p:spPr>
          <a:xfrm>
            <a:off x="8778240" y="531266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autres tâches …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778240" y="561441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échelonnées 25/04 → 07/05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8640" y="63550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non négociables  </a:t>
            </a:r>
            <a:pPr indent="0" marL="0">
              <a:buNone/>
            </a:pPr>
            <a:r>
              <a:rPr lang="en-US" sz="1000" i="1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≤ 3  ·  DÉLÉGUER ≤ 2  ·  REPORTER absorbe tout le reste  ·  une phrase / décision  ·  0 tâche perdue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MVP · v0.4 · 24 avril 2026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2 · DÉLÉGATION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clic → un mail écrit pour vous, 80 % finalisé.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règles du brouillon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94560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1488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Destinataire = interne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membre d'équipe (Sikina, Lamiae…) qui traitera ensuite le tiers externe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7180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926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Reprend le fil original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68680" y="3200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l'objet du dernier mail reçu pour assurer la continuité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49040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8680" y="37033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Placeholders honnêtes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868680" y="3977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[À VÉRIFIER : montant exact] plutôt qu'inventer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526280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8680" y="44805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 chief-of-staff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868680" y="4754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coach sportif, pas d'émojis, 3-4 phrases maxi</a:t>
            </a:r>
            <a:endParaRPr lang="en-US" sz="10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303520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68680" y="52578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Archivable localement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868680" y="5532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Enregistrer → drafts.json ; bouton Envoyer → mailto Outlook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6035040" y="1691640"/>
            <a:ext cx="5669280" cy="4572000"/>
          </a:xfrm>
          <a:prstGeom prst="roundRect">
            <a:avLst>
              <a:gd name="adj" fmla="val 2400"/>
            </a:avLst>
          </a:prstGeom>
          <a:solidFill>
            <a:srgbClr val="F8F1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1965960"/>
            <a:ext cx="365760" cy="36576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76656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réel — tâche t1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6309360" y="2514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: </a:t>
            </a:r>
            <a:pPr indent="0" marL="0">
              <a:buNone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sikina@etic.yt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6309360" y="2834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 : </a:t>
            </a:r>
            <a:pPr indent="0" marL="0">
              <a:buNone/>
            </a:pPr>
            <a:r>
              <a:rPr lang="en-US" sz="11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J — Attestation Emprunteur signée → Marie Ansquer (CA Bretagne)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6309360" y="3429000"/>
            <a:ext cx="5120640" cy="0"/>
          </a:xfrm>
          <a:prstGeom prst="line">
            <a:avLst/>
          </a:prstGeom>
          <a:noFill/>
          <a:ln w="9525">
            <a:solidFill>
              <a:srgbClr val="D9D2C5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6309360" y="3520440"/>
            <a:ext cx="5120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Sikina,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AMANI PROPERTIES / Contrat de Crédits CA Bretagne du 02/04/2026 — plusieurs relances en cours, urgence réelle.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compiler l'attestation emprunteur à jour [À VÉRIFIER : version signée en cours de validité] + les pièces justificatives des CPs associées [À VÉRIFIER : liste exacte des pièces à joindre], puis d'envoyer le tout aujourd'hui même à Marie Ansquer.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Reprendre le fil « URGENT: AMANI PROPERTIES / Contrat de Crédits du 02/04/2026 ». Confirme-moi par retour que l'envoi est fait.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Merci.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MVP · v0.4 · 24 avril 2026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3 · BOUCLE DU SOIR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minutes pour clore — pas de coach, juste un miroir.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cette étape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5303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debrief, le copilote ne voit pas si ses propositions du matin étaient justes. Sans debrief, vous ressortez le lendemain avec la même surcharge floue dans la tête.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boucle du soir est courte, locale, sans LLM. Vous cochez, vous notez un mot, vous fermez.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qui remonte au matin suivant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663440"/>
            <a:ext cx="91440" cy="9144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572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fait : &gt; 70 % = sain, &lt; 30 % = saturation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5029200"/>
            <a:ext cx="91440" cy="9144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937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chroniquement reportées : signal perfectionnisme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5394960"/>
            <a:ext cx="91440" cy="9144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303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Humeur moyenne sur 5 jours : signal charge mentale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760720"/>
            <a:ext cx="91440" cy="9144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669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rappel culpabilisant, uniquement des faits lisibles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1691640"/>
            <a:ext cx="5303520" cy="4572000"/>
          </a:xfrm>
          <a:prstGeom prst="roundRect">
            <a:avLst>
              <a:gd name="adj" fmla="val 2400"/>
            </a:avLst>
          </a:prstGeom>
          <a:solidFill>
            <a:srgbClr val="F1ECF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2940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avril · debrief du jour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29400" y="2331720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Virement Franklin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424160" y="2404872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E8604C"/>
          </a:solidFill>
          <a:ln/>
        </p:spPr>
      </p:sp>
      <p:sp>
        <p:nvSpPr>
          <p:cNvPr id="21" name="Text 19"/>
          <p:cNvSpPr/>
          <p:nvPr/>
        </p:nvSpPr>
        <p:spPr>
          <a:xfrm>
            <a:off x="10424160" y="240487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29400" y="2880360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2880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Virement Affejee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424160" y="2953512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E8604C"/>
          </a:solidFill>
          <a:ln/>
        </p:spPr>
      </p:sp>
      <p:sp>
        <p:nvSpPr>
          <p:cNvPr id="25" name="Text 23"/>
          <p:cNvSpPr/>
          <p:nvPr/>
        </p:nvSpPr>
        <p:spPr>
          <a:xfrm>
            <a:off x="10424160" y="295351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629400" y="3429000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3429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Signer Attestation notaire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424160" y="3502152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E8604C"/>
          </a:solidFill>
          <a:ln/>
        </p:spPr>
      </p:sp>
      <p:sp>
        <p:nvSpPr>
          <p:cNvPr id="29" name="Text 27"/>
          <p:cNvSpPr/>
          <p:nvPr/>
        </p:nvSpPr>
        <p:spPr>
          <a:xfrm>
            <a:off x="10424160" y="350215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29400" y="4160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Humeur en un mot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629400" y="4434840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4434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satisfait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29400" y="5074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détecté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629400" y="53492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fait 100 % · journée dense mais tenue. Aucun signal saturation.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MVP · v0.4 · 24 avril 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DU CONTEXTE RÉEL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L'arbitrage sait ce qu'il y a dans votre Outlook.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sur 30 jours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237744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E860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926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017520" y="254203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mails utiles conservés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237744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6A4F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017520" y="35021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Outlook dépouillés (principal · ITH · LTM)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206240"/>
            <a:ext cx="237744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E8B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2174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017520" y="446227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mails bruit filtrés (newsletters, alertes, cold-mails)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5166360"/>
            <a:ext cx="237744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E860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661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017520" y="542239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mails non lus — surfacés dans le prompt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F8F1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057400"/>
            <a:ext cx="365760" cy="3657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13232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email → prompt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675120" y="2697480"/>
            <a:ext cx="457200" cy="45720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8" name="Text 15"/>
          <p:cNvSpPr/>
          <p:nvPr/>
        </p:nvSpPr>
        <p:spPr>
          <a:xfrm>
            <a:off x="667512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269480" y="26974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fetch-outlook.ps1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269480" y="295351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COM · Inbox + Sent · 3 stores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675120" y="3383280"/>
            <a:ext cx="457200" cy="45720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22" name="Text 19"/>
          <p:cNvSpPr/>
          <p:nvPr/>
        </p:nvSpPr>
        <p:spPr>
          <a:xfrm>
            <a:off x="66751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269480" y="3383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normalize-emails.js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269480" y="363931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bruit · inférence projet (domaine + contact)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675120" y="4069080"/>
            <a:ext cx="457200" cy="45720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26" name="Text 23"/>
          <p:cNvSpPr/>
          <p:nvPr/>
        </p:nvSpPr>
        <p:spPr>
          <a:xfrm>
            <a:off x="66751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7269480" y="40690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emails-context.js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269480" y="432511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 global + signal par tâche (7 derniers jours)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675120" y="4754880"/>
            <a:ext cx="457200" cy="45720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30" name="Text 27"/>
          <p:cNvSpPr/>
          <p:nvPr/>
        </p:nvSpPr>
        <p:spPr>
          <a:xfrm>
            <a:off x="667512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7269480" y="47548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prompt.js injection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269480" y="501091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voit : relances, non-lus, dernier sujet par tâche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675120" y="5440680"/>
            <a:ext cx="457200" cy="45720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34" name="Text 31"/>
          <p:cNvSpPr/>
          <p:nvPr/>
        </p:nvSpPr>
        <p:spPr>
          <a:xfrm>
            <a:off x="6675120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7269480" y="54406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Règle arbitrage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7269480" y="569671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relances contact ≥ 2 → monte en FAIRE ou DÉLÉGUER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MVP · v0.4 · 24 avril 2026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4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6A4F91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 · 24 AVRIL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prototype a tourné sur les vrais dossiers.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9B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 tâches ouvertes · 7 sociétés · 926 mails · un aller-retour complet avec Claude Sonnet 4.6.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0175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60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28/28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4023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classées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100 %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283464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30175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60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/ 2 / 23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337560" y="4023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· DÉLÉG · REPORTER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4389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plafonds respectés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283464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30175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60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 s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126480" y="4023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arbitrage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4389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5.2k in / 2.5k out tokens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15400" y="283464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15400" y="30175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60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1,5 ct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8915400" y="4023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du cycle complet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15400" y="4389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 + 2 brouillons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53949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8604C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Claude a bien vu 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virements Franklin + Affejee + signature notaire en tête de FAIRE. Attestation CA Bretagne + BREEAM partis en délégation. Reste du portefeuille échelonné sur 25/04 → 07/05, sans perte.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MVP · v0.4 · 24 avril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CONNUES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qui reste à traiter avant généralisation.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F8F1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59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23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 manuel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834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server.js à lancer à la main chaque matin · pas encore de lancement système au login.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34840" y="173736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F8F1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9659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3440" y="2423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Outlook ponctuel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663440" y="2834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script PS1 doit être relancé pour rafraîchir les mails · pas encore de watcher automatique.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321040" y="173736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F8F1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96596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549640" y="2423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d'envoi natif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549640" y="2834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bouton 'Envoyer' passe par mailto: qui ouvre Outlook · pas d'envoi direct depuis l'app.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406908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F8F1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29768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7724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d'apprentissage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777240" y="51663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copilote ne retient pas encore vos patterns (reports chroniques, perfectionnisme, tâches jamais faites).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434840" y="406908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F8F1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29768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66344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multi-profil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4663440" y="51663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construit pour un CEO. Pas encore de vue équipe ni de partage d'arbitrages entre vous et votre assistante.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8321040" y="406908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F8F1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4297680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54964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historique partielle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8549640" y="51663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drafts et debriefs sont archivés mais pas encore une page /archives navigable.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MVP · v0.4 · 24 avril 2026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ET AU-DELÀ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qui peut être ajouté — par ordre de valeur.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3657600" cy="548640"/>
          </a:xfrm>
          <a:prstGeom prst="rect">
            <a:avLst/>
          </a:prstGeom>
          <a:solidFill>
            <a:srgbClr val="E8604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83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TERME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Polish MVP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 automatique au login Windows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 Outlook toutes les 2 h (scheduled task)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système 8h45 + silence week-end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/archives drafts + debriefs navigable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natif via Microsoft Graph (fin des mailto:)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73736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1737360"/>
            <a:ext cx="3657600" cy="548640"/>
          </a:xfrm>
          <a:prstGeom prst="rect">
            <a:avLst/>
          </a:prstGeom>
          <a:solidFill>
            <a:srgbClr val="6A4F91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783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TERME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423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Copilote qui apprend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09160" y="30632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des patterns (reports chroniques, perfectionnisme)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Propositions proactives : 'Bénédicte vous a relancé 3 fois'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anti-surchauffe (signal charge mentale sur 5 j)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 hebdomadaire — Big Rocks S+1 dans le cockpit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Clipboard coach : détecte les tâches mal formulées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21040" y="173736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1737360"/>
            <a:ext cx="3657600" cy="548640"/>
          </a:xfrm>
          <a:prstGeom prst="rect">
            <a:avLst/>
          </a:prstGeom>
          <a:solidFill>
            <a:srgbClr val="E8B54C"/>
          </a:solidFill>
          <a:ln/>
        </p:spPr>
      </p:sp>
      <p:sp>
        <p:nvSpPr>
          <p:cNvPr id="17" name="Text 15"/>
          <p:cNvSpPr/>
          <p:nvPr/>
        </p:nvSpPr>
        <p:spPr>
          <a:xfrm>
            <a:off x="8549640" y="1783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49640" y="2423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Équipe + visualisation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595360" y="30632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arbitrages Feycoil ↔ assistante (workflow 2 rôles)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portefeuille multi-société en pensée visuelle native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Teams + SharePoint + calendrier unifié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voix pour l'arbitrage matinal (dictée)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companion (lecture + validation, pas édition)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MVP · v0.4 · 24 avril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4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286000"/>
            <a:ext cx="6400800" cy="6400800"/>
          </a:xfrm>
          <a:prstGeom prst="ellipse">
            <a:avLst/>
          </a:prstGeom>
          <a:solidFill>
            <a:srgbClr val="6A4F91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572000"/>
            <a:ext cx="4572000" cy="4572000"/>
          </a:xfrm>
          <a:prstGeom prst="ellipse">
            <a:avLst/>
          </a:prstGeom>
          <a:solidFill>
            <a:srgbClr val="E8604C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COMMENCER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Demain matin, 8h45.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B89B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lance, on observe, on ajuste.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10698480" cy="2103120"/>
          </a:xfrm>
          <a:prstGeom prst="roundRect">
            <a:avLst>
              <a:gd name="adj" fmla="val 434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703320"/>
            <a:ext cx="411480" cy="41148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3703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37033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start.bat  →  http://localhost:4747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05840" y="4297680"/>
            <a:ext cx="411480" cy="41148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4297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42976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« Lancer l'arbitrage »  (10 s en démo, 40 s en réel)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05840" y="4892040"/>
            <a:ext cx="411480" cy="41148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892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892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0" y="48920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si besoin, puis bouton « Valider l'arbitrage »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6217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MVP · v0.4 · code sur votre poste · documentation dans mvp/README.md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aiCEO MVP — description &amp; fonctionnalités</dc:title>
  <dc:subject>PptxGenJS Presentation</dc:subject>
  <dc:creator>Copilote aiCEO</dc:creator>
  <cp:lastModifiedBy>Copilote aiCEO</cp:lastModifiedBy>
  <cp:revision>1</cp:revision>
  <dcterms:created xsi:type="dcterms:W3CDTF">2026-04-24T05:28:09Z</dcterms:created>
  <dcterms:modified xsi:type="dcterms:W3CDTF">2026-04-24T05:28:09Z</dcterms:modified>
</cp:coreProperties>
</file>